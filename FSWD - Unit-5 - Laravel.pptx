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36"/>
  </p:notesMasterIdLst>
  <p:sldIdLst>
    <p:sldId id="285" r:id="rId3"/>
    <p:sldId id="265" r:id="rId4"/>
    <p:sldId id="256" r:id="rId5"/>
    <p:sldId id="258" r:id="rId6"/>
    <p:sldId id="259" r:id="rId7"/>
    <p:sldId id="260" r:id="rId8"/>
    <p:sldId id="262" r:id="rId9"/>
    <p:sldId id="270" r:id="rId10"/>
    <p:sldId id="273" r:id="rId11"/>
    <p:sldId id="264" r:id="rId12"/>
    <p:sldId id="266" r:id="rId13"/>
    <p:sldId id="272" r:id="rId14"/>
    <p:sldId id="274" r:id="rId15"/>
    <p:sldId id="271" r:id="rId16"/>
    <p:sldId id="277" r:id="rId17"/>
    <p:sldId id="263" r:id="rId18"/>
    <p:sldId id="275" r:id="rId19"/>
    <p:sldId id="287" r:id="rId20"/>
    <p:sldId id="297" r:id="rId21"/>
    <p:sldId id="286" r:id="rId22"/>
    <p:sldId id="288" r:id="rId23"/>
    <p:sldId id="289" r:id="rId24"/>
    <p:sldId id="276" r:id="rId25"/>
    <p:sldId id="267" r:id="rId26"/>
    <p:sldId id="268" r:id="rId27"/>
    <p:sldId id="269" r:id="rId28"/>
    <p:sldId id="290" r:id="rId29"/>
    <p:sldId id="291" r:id="rId30"/>
    <p:sldId id="293" r:id="rId31"/>
    <p:sldId id="292" r:id="rId32"/>
    <p:sldId id="294" r:id="rId33"/>
    <p:sldId id="295" r:id="rId34"/>
    <p:sldId id="296" r:id="rId3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94" autoAdjust="0"/>
    <p:restoredTop sz="94624" autoAdjust="0"/>
  </p:normalViewPr>
  <p:slideViewPr>
    <p:cSldViewPr>
      <p:cViewPr varScale="1">
        <p:scale>
          <a:sx n="75" d="100"/>
          <a:sy n="75" d="100"/>
        </p:scale>
        <p:origin x="1723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63A23B-A5BB-498C-A96B-7F5460FD6ED6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178324-4E55-4567-ACCB-29034241134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614096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178324-4E55-4567-ACCB-29034241134A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178324-4E55-4567-ACCB-29034241134A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178324-4E55-4567-ACCB-29034241134A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accent2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>
            <a:spLocks noGrp="1"/>
          </p:cNvSpPr>
          <p:nvPr>
            <p:ph type="ctrTitle"/>
          </p:nvPr>
        </p:nvSpPr>
        <p:spPr>
          <a:xfrm>
            <a:off x="1200150" y="2386744"/>
            <a:ext cx="6743700" cy="164592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300" tIns="182875" rIns="274300" bIns="182875" anchor="ctr" anchorCtr="1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Bookman Old Style"/>
              <a:buNone/>
              <a:defRPr sz="285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9"/>
          <p:cNvSpPr txBox="1">
            <a:spLocks noGrp="1"/>
          </p:cNvSpPr>
          <p:nvPr>
            <p:ph type="subTitle" idx="1"/>
          </p:nvPr>
        </p:nvSpPr>
        <p:spPr>
          <a:xfrm>
            <a:off x="2021396" y="4352544"/>
            <a:ext cx="5101209" cy="1239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2000"/>
              <a:buNone/>
              <a:defRPr sz="1500">
                <a:solidFill>
                  <a:srgbClr val="FEFEFE"/>
                </a:solidFill>
              </a:defRPr>
            </a:lvl1pPr>
            <a:lvl2pPr lvl="1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20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350"/>
            </a:lvl3pPr>
            <a:lvl4pPr lvl="3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200"/>
            </a:lvl9pPr>
          </a:lstStyle>
          <a:p>
            <a:endParaRPr/>
          </a:p>
        </p:txBody>
      </p:sp>
      <p:sp>
        <p:nvSpPr>
          <p:cNvPr id="18" name="Google Shape;18;p9"/>
          <p:cNvSpPr txBox="1">
            <a:spLocks noGrp="1"/>
          </p:cNvSpPr>
          <p:nvPr>
            <p:ph type="dt" idx="10"/>
          </p:nvPr>
        </p:nvSpPr>
        <p:spPr>
          <a:xfrm>
            <a:off x="5866072" y="6238816"/>
            <a:ext cx="2065310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05-10-2020</a:t>
            </a:r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ftr" idx="11"/>
          </p:nvPr>
        </p:nvSpPr>
        <p:spPr>
          <a:xfrm>
            <a:off x="1200150" y="6236208"/>
            <a:ext cx="4425892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DEPARTMENT OF ELECTRICAL ENGINEERING, *Proprietary material of SILVER OAK UNIVERSITY</a:t>
            </a:r>
            <a:endParaRPr/>
          </a:p>
        </p:txBody>
      </p:sp>
      <p:sp>
        <p:nvSpPr>
          <p:cNvPr id="20" name="Google Shape;20;p9"/>
          <p:cNvSpPr>
            <a:spLocks noGrp="1"/>
          </p:cNvSpPr>
          <p:nvPr>
            <p:ph type="sldNum" idx="12"/>
          </p:nvPr>
        </p:nvSpPr>
        <p:spPr>
          <a:xfrm>
            <a:off x="8069192" y="6217920"/>
            <a:ext cx="27432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21" name="Google Shape;21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669528" y="1"/>
            <a:ext cx="1474472" cy="56899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53877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>
            <a:spLocks noGrp="1"/>
          </p:cNvSpPr>
          <p:nvPr>
            <p:ph type="title"/>
          </p:nvPr>
        </p:nvSpPr>
        <p:spPr>
          <a:xfrm>
            <a:off x="1673352" y="964692"/>
            <a:ext cx="5797296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Bookman Old Style"/>
              <a:buNone/>
              <a:defRPr sz="2800" b="0" i="0" u="none" strike="noStrike" cap="none">
                <a:solidFill>
                  <a:srgbClr val="262626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7"/>
          <p:cNvSpPr txBox="1">
            <a:spLocks noGrp="1"/>
          </p:cNvSpPr>
          <p:nvPr>
            <p:ph type="body" idx="1"/>
          </p:nvPr>
        </p:nvSpPr>
        <p:spPr>
          <a:xfrm>
            <a:off x="1673352" y="2638045"/>
            <a:ext cx="5797296" cy="3101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FEFEFE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FEFEFE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FEFEFE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FEFEFE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FEFEFE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2" name="Google Shape;12;p7"/>
          <p:cNvSpPr txBox="1">
            <a:spLocks noGrp="1"/>
          </p:cNvSpPr>
          <p:nvPr>
            <p:ph type="dt" idx="10"/>
          </p:nvPr>
        </p:nvSpPr>
        <p:spPr>
          <a:xfrm>
            <a:off x="5866072" y="6238816"/>
            <a:ext cx="2065310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788" b="0" i="0" u="none" strike="noStrike" cap="none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r>
              <a:rPr lang="en-US"/>
              <a:t>05-10-2020</a:t>
            </a:r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ftr" idx="11"/>
          </p:nvPr>
        </p:nvSpPr>
        <p:spPr>
          <a:xfrm>
            <a:off x="1200150" y="6236208"/>
            <a:ext cx="4425892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88" b="0" i="0" u="none" strike="noStrike" cap="none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r>
              <a:rPr lang="en-US"/>
              <a:t>DEPARTMENT OF ELECTRICAL ENGINEERING, *Proprietary material of SILVER OAK UNIVERSITY</a:t>
            </a:r>
            <a:endParaRPr/>
          </a:p>
        </p:txBody>
      </p:sp>
      <p:sp>
        <p:nvSpPr>
          <p:cNvPr id="14" name="Google Shape;14;p7"/>
          <p:cNvSpPr>
            <a:spLocks noGrp="1"/>
          </p:cNvSpPr>
          <p:nvPr>
            <p:ph type="sldNum" idx="12"/>
          </p:nvPr>
        </p:nvSpPr>
        <p:spPr>
          <a:xfrm>
            <a:off x="8069192" y="6217920"/>
            <a:ext cx="27432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825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0" marR="0" lvl="1" indent="0" algn="ctr" rtl="0">
              <a:spcBef>
                <a:spcPts val="0"/>
              </a:spcBef>
              <a:buNone/>
              <a:defRPr sz="825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0" marR="0" lvl="2" indent="0" algn="ctr" rtl="0">
              <a:spcBef>
                <a:spcPts val="0"/>
              </a:spcBef>
              <a:buNone/>
              <a:defRPr sz="825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0" marR="0" lvl="3" indent="0" algn="ctr" rtl="0">
              <a:spcBef>
                <a:spcPts val="0"/>
              </a:spcBef>
              <a:buNone/>
              <a:defRPr sz="825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0" marR="0" lvl="4" indent="0" algn="ctr" rtl="0">
              <a:spcBef>
                <a:spcPts val="0"/>
              </a:spcBef>
              <a:buNone/>
              <a:defRPr sz="825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0" marR="0" lvl="5" indent="0" algn="ctr" rtl="0">
              <a:spcBef>
                <a:spcPts val="0"/>
              </a:spcBef>
              <a:buNone/>
              <a:defRPr sz="825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0" marR="0" lvl="6" indent="0" algn="ctr" rtl="0">
              <a:spcBef>
                <a:spcPts val="0"/>
              </a:spcBef>
              <a:buNone/>
              <a:defRPr sz="825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0" marR="0" lvl="7" indent="0" algn="ctr" rtl="0">
              <a:spcBef>
                <a:spcPts val="0"/>
              </a:spcBef>
              <a:buNone/>
              <a:defRPr sz="825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0" marR="0" lvl="8" indent="0" algn="ctr" rtl="0">
              <a:spcBef>
                <a:spcPts val="0"/>
              </a:spcBef>
              <a:buNone/>
              <a:defRPr sz="825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868880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r="2610"/>
          <a:stretch/>
        </p:blipFill>
        <p:spPr>
          <a:xfrm>
            <a:off x="0" y="0"/>
            <a:ext cx="9144001" cy="573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" descr="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19623" y="250925"/>
            <a:ext cx="3704749" cy="10331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/>
          <p:nvPr/>
        </p:nvSpPr>
        <p:spPr>
          <a:xfrm>
            <a:off x="-9300" y="5739325"/>
            <a:ext cx="9153300" cy="1494600"/>
          </a:xfrm>
          <a:prstGeom prst="rect">
            <a:avLst/>
          </a:prstGeom>
          <a:solidFill>
            <a:srgbClr val="8D313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8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UNIT-V</a:t>
            </a:r>
            <a:endParaRPr sz="20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p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2562977"/>
            <a:ext cx="9144001" cy="68650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/>
          <p:nvPr/>
        </p:nvSpPr>
        <p:spPr>
          <a:xfrm>
            <a:off x="-4650" y="2515284"/>
            <a:ext cx="9044412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4400" b="1" dirty="0">
                <a:ln/>
                <a:solidFill>
                  <a:srgbClr val="C00000"/>
                </a:solidFill>
              </a:rPr>
              <a:t>Full Stack Web Development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110511-811F-182C-90CF-73F3DBE1EF00}"/>
              </a:ext>
            </a:extLst>
          </p:cNvPr>
          <p:cNvSpPr txBox="1"/>
          <p:nvPr/>
        </p:nvSpPr>
        <p:spPr>
          <a:xfrm>
            <a:off x="1192633" y="3799334"/>
            <a:ext cx="66498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n/>
                <a:solidFill>
                  <a:schemeClr val="tx1"/>
                </a:solidFill>
              </a:rPr>
              <a:t>LARAVEL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166632386275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2378556"/>
            <a:ext cx="4419600" cy="386984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TextBox 4"/>
          <p:cNvSpPr txBox="1"/>
          <p:nvPr/>
        </p:nvSpPr>
        <p:spPr>
          <a:xfrm>
            <a:off x="457200" y="1010446"/>
            <a:ext cx="85344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q"/>
            </a:pPr>
            <a:r>
              <a:rPr lang="en-US" dirty="0"/>
              <a:t>A Framework or software framework is a platform for developing software application.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Basically, its simplified our work and reduced the amount of code by providing some ready made functionality. </a:t>
            </a:r>
          </a:p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09600" y="381000"/>
            <a:ext cx="16326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Framework</a:t>
            </a:r>
          </a:p>
        </p:txBody>
      </p:sp>
      <p:pic>
        <p:nvPicPr>
          <p:cNvPr id="2" name="Google Shape;21;p9">
            <a:extLst>
              <a:ext uri="{FF2B5EF4-FFF2-40B4-BE49-F238E27FC236}">
                <a16:creationId xmlns:a16="http://schemas.microsoft.com/office/drawing/2014/main" id="{46B79743-BE1B-FCDD-87D4-CD1ADEF780C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78037" y="40605"/>
            <a:ext cx="1965963" cy="568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81000" y="762000"/>
            <a:ext cx="8458200" cy="60462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000" dirty="0"/>
              <a:t>LARAVEL is a free open-source PHP based web framework.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000" dirty="0"/>
              <a:t>It has a very rich set of features which will boost the speed of Web Development.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000" dirty="0"/>
              <a:t>If you familiar with Core PHP and Advanced PHP, Laravel will make your task easier. 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000" dirty="0"/>
              <a:t>It will save a lot time if you are planning to develop a website from scratch.  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000" dirty="0"/>
              <a:t>Laravel follows the model–view–controller (MVC) architectural pattern.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000" dirty="0"/>
              <a:t>Laravel offers a robust set of tools and an application architecture that incorporates many of the best features of frameworks like CodeIgniter, Yii, ASP.NET MVC, Ruby on Rails, Sinatra, and others. 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000" b="1" dirty="0">
                <a:solidFill>
                  <a:srgbClr val="C00000"/>
                </a:solidFill>
              </a:rPr>
              <a:t>Taylor </a:t>
            </a:r>
            <a:r>
              <a:rPr lang="en-US" sz="2000" b="1" dirty="0" err="1">
                <a:solidFill>
                  <a:srgbClr val="C00000"/>
                </a:solidFill>
              </a:rPr>
              <a:t>Otwell</a:t>
            </a:r>
            <a:r>
              <a:rPr lang="en-US" sz="2000" dirty="0"/>
              <a:t> developed Laravel in July 2011, and it was released more than five years after the release of the </a:t>
            </a:r>
            <a:r>
              <a:rPr lang="en-US" sz="2000" dirty="0" err="1"/>
              <a:t>Codeigniter</a:t>
            </a:r>
            <a:r>
              <a:rPr lang="en-US" sz="2000" dirty="0"/>
              <a:t> framework.</a:t>
            </a:r>
            <a:endParaRPr lang="en-US" sz="2000" b="1" dirty="0"/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000" dirty="0"/>
              <a:t>Laravel is one of the most popular PHP frameworks after </a:t>
            </a:r>
            <a:r>
              <a:rPr lang="en-US" sz="2000" dirty="0" err="1"/>
              <a:t>Codeigniter</a:t>
            </a:r>
            <a:r>
              <a:rPr lang="en-US" sz="2000" dirty="0"/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5769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LARAVEL </a:t>
            </a:r>
          </a:p>
        </p:txBody>
      </p:sp>
      <p:pic>
        <p:nvPicPr>
          <p:cNvPr id="2" name="Google Shape;21;p9">
            <a:extLst>
              <a:ext uri="{FF2B5EF4-FFF2-40B4-BE49-F238E27FC236}">
                <a16:creationId xmlns:a16="http://schemas.microsoft.com/office/drawing/2014/main" id="{845C153C-D5CA-7F15-0F22-EA37ED23FF1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178037" y="40605"/>
            <a:ext cx="1965963" cy="568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152400"/>
            <a:ext cx="254992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Laravel – Features 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04800" y="685800"/>
            <a:ext cx="8763000" cy="5816977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b="1" dirty="0"/>
              <a:t>Open Source</a:t>
            </a:r>
          </a:p>
          <a:p>
            <a:r>
              <a:rPr lang="en-US" dirty="0"/>
              <a:t> Its free and Large community support</a:t>
            </a:r>
          </a:p>
          <a:p>
            <a:endParaRPr lang="en-US" sz="1600" dirty="0"/>
          </a:p>
          <a:p>
            <a:r>
              <a:rPr lang="en-US" sz="2000" b="1" dirty="0"/>
              <a:t>MVC</a:t>
            </a:r>
          </a:p>
          <a:p>
            <a:endParaRPr lang="en-US" sz="2000" b="1" dirty="0"/>
          </a:p>
          <a:p>
            <a:pPr algn="just">
              <a:buFont typeface="Wingdings" pitchFamily="2" charset="2"/>
              <a:buChar char="q"/>
            </a:pPr>
            <a:r>
              <a:rPr lang="en-US" dirty="0"/>
              <a:t>Laravel uses the MVC model</a:t>
            </a:r>
          </a:p>
          <a:p>
            <a:pPr algn="just"/>
            <a:r>
              <a:rPr lang="en-US" b="1" dirty="0"/>
              <a:t>Model : </a:t>
            </a:r>
            <a:r>
              <a:rPr lang="en-US" dirty="0"/>
              <a:t>A model is a class that deals with the Data (Database).</a:t>
            </a:r>
          </a:p>
          <a:p>
            <a:pPr algn="just"/>
            <a:r>
              <a:rPr lang="en-US" b="1" dirty="0"/>
              <a:t>View : </a:t>
            </a:r>
            <a:r>
              <a:rPr lang="en-US" dirty="0"/>
              <a:t>A view is a class that deals with an HTML. (User Interface)</a:t>
            </a:r>
          </a:p>
          <a:p>
            <a:pPr algn="just"/>
            <a:r>
              <a:rPr lang="en-US" b="1" dirty="0"/>
              <a:t>Controller : </a:t>
            </a:r>
            <a:r>
              <a:rPr lang="en-US" dirty="0"/>
              <a:t>A controller is the middle-man that deals with both model and view. </a:t>
            </a:r>
          </a:p>
          <a:p>
            <a:endParaRPr lang="en-US" sz="2000" b="1" dirty="0"/>
          </a:p>
          <a:p>
            <a:r>
              <a:rPr lang="en-US" sz="2000" b="1" dirty="0"/>
              <a:t>Blade Templating Engine</a:t>
            </a:r>
          </a:p>
          <a:p>
            <a:endParaRPr lang="en-US" b="1" dirty="0"/>
          </a:p>
          <a:p>
            <a:pPr algn="just">
              <a:buFont typeface="Wingdings" pitchFamily="2" charset="2"/>
              <a:buChar char="q"/>
            </a:pPr>
            <a:r>
              <a:rPr lang="en-US" dirty="0"/>
              <a:t>Easy to use and more powerful.</a:t>
            </a:r>
          </a:p>
          <a:p>
            <a:pPr algn="just">
              <a:buFont typeface="Wingdings" pitchFamily="2" charset="2"/>
              <a:buChar char="q"/>
            </a:pPr>
            <a:r>
              <a:rPr lang="en-US" dirty="0"/>
              <a:t>It helps reuse common parts like </a:t>
            </a:r>
            <a:r>
              <a:rPr lang="en-US" b="1" dirty="0"/>
              <a:t>header, footer, and menus</a:t>
            </a:r>
            <a:r>
              <a:rPr lang="en-US" dirty="0"/>
              <a:t> without repeating code.</a:t>
            </a:r>
          </a:p>
          <a:p>
            <a:pPr algn="just">
              <a:buFont typeface="Wingdings" pitchFamily="2" charset="2"/>
              <a:buChar char="q"/>
            </a:pPr>
            <a:r>
              <a:rPr lang="en-US" dirty="0"/>
              <a:t>It also allows the use of plain PHP code in Blade templating engine files.</a:t>
            </a:r>
          </a:p>
          <a:p>
            <a:pPr algn="just">
              <a:buFont typeface="Wingdings" pitchFamily="2" charset="2"/>
              <a:buChar char="q"/>
            </a:pPr>
            <a:r>
              <a:rPr lang="en-US" dirty="0"/>
              <a:t>Blade Template Engine file has </a:t>
            </a:r>
            <a:r>
              <a:rPr lang="en-US" b="1" dirty="0"/>
              <a:t>.blade.php </a:t>
            </a:r>
            <a:r>
              <a:rPr lang="en-US" dirty="0"/>
              <a:t>extension.</a:t>
            </a:r>
          </a:p>
          <a:p>
            <a:endParaRPr lang="en-US" sz="2000" b="1" dirty="0"/>
          </a:p>
          <a:p>
            <a:r>
              <a:rPr lang="en-US" sz="2000" b="1" dirty="0"/>
              <a:t>Artisan</a:t>
            </a:r>
          </a:p>
          <a:p>
            <a:r>
              <a:rPr lang="en-US" dirty="0"/>
              <a:t>Artisan is the command line tool.</a:t>
            </a:r>
          </a:p>
          <a:p>
            <a:r>
              <a:rPr lang="en-US" dirty="0"/>
              <a:t>We can create controllers, models, migrations and many more using simple commands.</a:t>
            </a:r>
          </a:p>
        </p:txBody>
      </p:sp>
      <p:pic>
        <p:nvPicPr>
          <p:cNvPr id="4" name="Google Shape;21;p9">
            <a:extLst>
              <a:ext uri="{FF2B5EF4-FFF2-40B4-BE49-F238E27FC236}">
                <a16:creationId xmlns:a16="http://schemas.microsoft.com/office/drawing/2014/main" id="{DB681665-29A3-3850-51EB-72723F24AA9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178037" y="40605"/>
            <a:ext cx="1965963" cy="568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228600"/>
            <a:ext cx="8534400" cy="6432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Composer</a:t>
            </a:r>
          </a:p>
          <a:p>
            <a:endParaRPr lang="en-US" dirty="0"/>
          </a:p>
          <a:p>
            <a:r>
              <a:rPr lang="en-US" dirty="0"/>
              <a:t>Composer is a tool for dependency management in PHP.</a:t>
            </a:r>
          </a:p>
          <a:p>
            <a:r>
              <a:rPr lang="en-US" dirty="0"/>
              <a:t>Third party libraries can be installed easily with help of composer.</a:t>
            </a:r>
          </a:p>
          <a:p>
            <a:r>
              <a:rPr lang="en-US" dirty="0"/>
              <a:t>It will manage (install/update) Library/Packages for you.</a:t>
            </a:r>
          </a:p>
          <a:p>
            <a:endParaRPr lang="en-US" sz="2000" b="1" dirty="0"/>
          </a:p>
          <a:p>
            <a:r>
              <a:rPr lang="en-US" sz="2000" b="1" dirty="0"/>
              <a:t>Eloquent ORM</a:t>
            </a:r>
          </a:p>
          <a:p>
            <a:endParaRPr lang="en-US" sz="2000" b="1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Eloquent helps you work with the database using simple PHP instead of complex SQL.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Makes database work easier and cleaner.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Instead of writing SQL queries, you can just write simple code to get data.</a:t>
            </a:r>
            <a:endParaRPr lang="en-US" sz="2000" b="1" dirty="0"/>
          </a:p>
          <a:p>
            <a:endParaRPr lang="en-US" sz="2000" b="1" dirty="0"/>
          </a:p>
          <a:p>
            <a:r>
              <a:rPr lang="en-US" sz="2000" b="1" dirty="0"/>
              <a:t>Inbuilt Authentication</a:t>
            </a:r>
          </a:p>
          <a:p>
            <a:endParaRPr lang="en-US" sz="2000" b="1" dirty="0"/>
          </a:p>
          <a:p>
            <a:pPr algn="just">
              <a:buFont typeface="Wingdings" pitchFamily="2" charset="2"/>
              <a:buChar char="q"/>
            </a:pPr>
            <a:r>
              <a:rPr lang="en-US" dirty="0"/>
              <a:t>Laravel contains an inbuilt authentication system, you only need to configure models, views, and controllers to make the application work. No any custom code required.</a:t>
            </a:r>
          </a:p>
          <a:p>
            <a:pPr algn="just">
              <a:buFont typeface="Wingdings" pitchFamily="2" charset="2"/>
              <a:buChar char="q"/>
            </a:pPr>
            <a:r>
              <a:rPr lang="en-US" dirty="0"/>
              <a:t>Laravel already provides </a:t>
            </a:r>
            <a:r>
              <a:rPr lang="en-US" b="1" dirty="0"/>
              <a:t>login, registration, password reset systems</a:t>
            </a:r>
            <a:r>
              <a:rPr lang="en-US" dirty="0"/>
              <a:t>.</a:t>
            </a:r>
          </a:p>
          <a:p>
            <a:pPr algn="just">
              <a:buFont typeface="Wingdings" pitchFamily="2" charset="2"/>
              <a:buChar char="q"/>
            </a:pPr>
            <a:endParaRPr lang="en-US" dirty="0"/>
          </a:p>
          <a:p>
            <a:r>
              <a:rPr lang="en-US" sz="2000" b="1" dirty="0"/>
              <a:t>Routing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Routing decides which page opens when a user visits a URL.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Laravel makes routing very easy to write and manage.</a:t>
            </a:r>
          </a:p>
        </p:txBody>
      </p:sp>
      <p:pic>
        <p:nvPicPr>
          <p:cNvPr id="3" name="Google Shape;21;p9">
            <a:extLst>
              <a:ext uri="{FF2B5EF4-FFF2-40B4-BE49-F238E27FC236}">
                <a16:creationId xmlns:a16="http://schemas.microsoft.com/office/drawing/2014/main" id="{5A5D9D8D-C3CE-F651-8CEC-CFA94107127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78037" y="40605"/>
            <a:ext cx="1965963" cy="568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152400"/>
            <a:ext cx="8305800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000" b="1" dirty="0"/>
          </a:p>
          <a:p>
            <a:r>
              <a:rPr lang="en-US" sz="2000" b="1" dirty="0"/>
              <a:t>Configuration Management</a:t>
            </a:r>
          </a:p>
          <a:p>
            <a:endParaRPr lang="en-US" dirty="0"/>
          </a:p>
          <a:p>
            <a:r>
              <a:rPr lang="en-US" dirty="0"/>
              <a:t>Easy Configuration. Laravel provides a consistent approach to handle the configuration in an efficient way.</a:t>
            </a:r>
          </a:p>
          <a:p>
            <a:endParaRPr lang="en-US" sz="2000" b="1" dirty="0"/>
          </a:p>
          <a:p>
            <a:r>
              <a:rPr lang="en-US" sz="2000" b="1" dirty="0"/>
              <a:t>Intact Security</a:t>
            </a:r>
          </a:p>
          <a:p>
            <a:pPr algn="just"/>
            <a:endParaRPr lang="en-US" sz="2000" b="1" dirty="0"/>
          </a:p>
          <a:p>
            <a:pPr marL="342900" indent="-342900" algn="just">
              <a:buFont typeface="Wingdings" pitchFamily="2" charset="2"/>
              <a:buChar char="q"/>
            </a:pPr>
            <a:r>
              <a:rPr lang="en-US" dirty="0"/>
              <a:t>Laravel has an inbuilt web application security.</a:t>
            </a:r>
          </a:p>
          <a:p>
            <a:pPr marL="342900" indent="-342900" algn="just">
              <a:buFont typeface="Wingdings" pitchFamily="2" charset="2"/>
              <a:buChar char="q"/>
            </a:pPr>
            <a:r>
              <a:rPr lang="en-US" dirty="0"/>
              <a:t> It uses "Bcrypt Hashing Algorithm" to generate the password means that the password is saved as an encrypted password in a database, not in the form of a plain text.</a:t>
            </a:r>
          </a:p>
          <a:p>
            <a:pPr marL="342900" indent="-342900" algn="just">
              <a:buFont typeface="Wingdings" pitchFamily="2" charset="2"/>
              <a:buChar char="q"/>
            </a:pPr>
            <a:endParaRPr lang="en-US" sz="2000" b="1" dirty="0"/>
          </a:p>
          <a:p>
            <a:r>
              <a:rPr lang="en-US" sz="2000" b="1" dirty="0"/>
              <a:t>Libraries</a:t>
            </a:r>
          </a:p>
          <a:p>
            <a:endParaRPr lang="en-US" dirty="0"/>
          </a:p>
          <a:p>
            <a:pPr>
              <a:buFont typeface="Wingdings" pitchFamily="2" charset="2"/>
              <a:buChar char="q"/>
            </a:pPr>
            <a:r>
              <a:rPr lang="en-US" dirty="0"/>
              <a:t>Laravel is very popular as some Object-oriented libraries, and pre-installed libraries are added in this framework, these pre-installed libraries are not added in other php frameworks. 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One of the most popular libraries is an </a:t>
            </a:r>
            <a:r>
              <a:rPr lang="en-US" b="1" dirty="0"/>
              <a:t>authentication library</a:t>
            </a:r>
            <a:r>
              <a:rPr lang="en-US" dirty="0"/>
              <a:t> that contains some useful features such as password reset, monitoring active users, Bcrypt hashing, and CSRF protection. </a:t>
            </a:r>
          </a:p>
        </p:txBody>
      </p:sp>
      <p:pic>
        <p:nvPicPr>
          <p:cNvPr id="3" name="Google Shape;21;p9">
            <a:extLst>
              <a:ext uri="{FF2B5EF4-FFF2-40B4-BE49-F238E27FC236}">
                <a16:creationId xmlns:a16="http://schemas.microsoft.com/office/drawing/2014/main" id="{6E63E6BE-E146-3539-1022-9AF6CAD2124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178037" y="40605"/>
            <a:ext cx="1965963" cy="568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33400" y="228600"/>
            <a:ext cx="41815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Environment Setup Laravel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38200"/>
            <a:ext cx="8199487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/>
              <a:t>Steps to follow :</a:t>
            </a:r>
          </a:p>
          <a:p>
            <a:endParaRPr lang="en-US" sz="2800" b="1" dirty="0"/>
          </a:p>
          <a:p>
            <a:pPr>
              <a:buFont typeface="Wingdings" pitchFamily="2" charset="2"/>
              <a:buChar char="q"/>
            </a:pPr>
            <a:r>
              <a:rPr lang="en-US" sz="2400" dirty="0"/>
              <a:t> Installation of PHP Local Server (WAMP/XAMP)</a:t>
            </a:r>
          </a:p>
          <a:p>
            <a:pPr>
              <a:buFont typeface="Wingdings" pitchFamily="2" charset="2"/>
              <a:buChar char="q"/>
            </a:pPr>
            <a:r>
              <a:rPr lang="en-US" sz="2400" dirty="0"/>
              <a:t> Installation of Composer</a:t>
            </a:r>
          </a:p>
          <a:p>
            <a:pPr>
              <a:buFont typeface="Wingdings" pitchFamily="2" charset="2"/>
              <a:buChar char="q"/>
            </a:pPr>
            <a:r>
              <a:rPr lang="en-US" sz="2400" dirty="0"/>
              <a:t> Run Command from command prompt</a:t>
            </a:r>
          </a:p>
          <a:p>
            <a:r>
              <a:rPr lang="en-US" sz="2400" dirty="0">
                <a:solidFill>
                  <a:srgbClr val="C00000"/>
                </a:solidFill>
                <a:latin typeface="Consolas" pitchFamily="49" charset="0"/>
              </a:rPr>
              <a:t>	</a:t>
            </a:r>
            <a:r>
              <a:rPr lang="en-US" sz="2000" b="1" dirty="0">
                <a:solidFill>
                  <a:srgbClr val="C00000"/>
                </a:solidFill>
                <a:latin typeface="Consolas" pitchFamily="49" charset="0"/>
              </a:rPr>
              <a:t>composer create-project </a:t>
            </a:r>
            <a:r>
              <a:rPr lang="en-US" sz="2000" b="1" dirty="0" err="1">
                <a:solidFill>
                  <a:srgbClr val="C00000"/>
                </a:solidFill>
                <a:latin typeface="Consolas" pitchFamily="49" charset="0"/>
              </a:rPr>
              <a:t>laravel</a:t>
            </a:r>
            <a:r>
              <a:rPr lang="en-US" sz="2000" b="1" dirty="0">
                <a:solidFill>
                  <a:srgbClr val="C00000"/>
                </a:solidFill>
                <a:latin typeface="Consolas" pitchFamily="49" charset="0"/>
              </a:rPr>
              <a:t>/</a:t>
            </a:r>
            <a:r>
              <a:rPr lang="en-US" sz="2000" b="1" dirty="0" err="1">
                <a:solidFill>
                  <a:srgbClr val="C00000"/>
                </a:solidFill>
                <a:latin typeface="Consolas" pitchFamily="49" charset="0"/>
              </a:rPr>
              <a:t>laravel</a:t>
            </a:r>
            <a:r>
              <a:rPr lang="en-US" sz="2000" b="1" dirty="0">
                <a:solidFill>
                  <a:srgbClr val="C00000"/>
                </a:solidFill>
                <a:latin typeface="Consolas" pitchFamily="49" charset="0"/>
              </a:rPr>
              <a:t> myproject</a:t>
            </a:r>
          </a:p>
          <a:p>
            <a:r>
              <a:rPr lang="en-US" sz="2000" b="1" dirty="0">
                <a:solidFill>
                  <a:srgbClr val="C00000"/>
                </a:solidFill>
                <a:latin typeface="Consolas" pitchFamily="49" charset="0"/>
              </a:rPr>
              <a:t>	</a:t>
            </a:r>
            <a:r>
              <a:rPr lang="en-US" sz="2000" dirty="0"/>
              <a:t>This creates a folder named </a:t>
            </a:r>
            <a:r>
              <a:rPr lang="en-US" sz="2000" b="1" dirty="0"/>
              <a:t>myproject</a:t>
            </a:r>
            <a:endParaRPr lang="en-US" sz="2000" b="1" dirty="0">
              <a:solidFill>
                <a:srgbClr val="C00000"/>
              </a:solidFill>
              <a:latin typeface="Consolas" pitchFamily="49" charset="0"/>
            </a:endParaRPr>
          </a:p>
          <a:p>
            <a:pPr>
              <a:buFont typeface="Wingdings" pitchFamily="2" charset="2"/>
              <a:buChar char="q"/>
            </a:pPr>
            <a:r>
              <a:rPr lang="en-IN" sz="2400" dirty="0"/>
              <a:t> Goto Project folder</a:t>
            </a:r>
          </a:p>
          <a:p>
            <a:r>
              <a:rPr lang="en-IN" sz="2400" dirty="0"/>
              <a:t>     	</a:t>
            </a:r>
            <a:r>
              <a:rPr lang="en-IN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cd myproject</a:t>
            </a:r>
            <a:endParaRPr lang="en-US" sz="2000" b="1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pPr>
              <a:buFont typeface="Wingdings" pitchFamily="2" charset="2"/>
              <a:buChar char="q"/>
            </a:pPr>
            <a:r>
              <a:rPr lang="en-IN" sz="2400" dirty="0"/>
              <a:t>Run Laravel Project</a:t>
            </a:r>
          </a:p>
          <a:p>
            <a:r>
              <a:rPr lang="en-US" sz="2000" b="1" dirty="0">
                <a:solidFill>
                  <a:srgbClr val="C00000"/>
                </a:solidFill>
                <a:latin typeface="Consolas" pitchFamily="49" charset="0"/>
              </a:rPr>
              <a:t>	php artisan serve</a:t>
            </a:r>
          </a:p>
          <a:p>
            <a:endParaRPr lang="en-US" sz="2000" b="1" dirty="0">
              <a:solidFill>
                <a:srgbClr val="C00000"/>
              </a:solidFill>
              <a:latin typeface="Consolas" pitchFamily="49" charset="0"/>
            </a:endParaRPr>
          </a:p>
          <a:p>
            <a:pPr>
              <a:buFont typeface="Wingdings" pitchFamily="2" charset="2"/>
              <a:buChar char="q"/>
            </a:pPr>
            <a:r>
              <a:rPr lang="en-IN" sz="2400" dirty="0"/>
              <a:t>Open in Browser</a:t>
            </a:r>
          </a:p>
          <a:p>
            <a:r>
              <a:rPr lang="en-IN" sz="2400" dirty="0"/>
              <a:t>	</a:t>
            </a:r>
            <a:r>
              <a:rPr lang="en-IN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http://127.0.0.1:8000</a:t>
            </a:r>
            <a:endParaRPr lang="en-US" sz="2000" b="1" dirty="0">
              <a:solidFill>
                <a:srgbClr val="C00000"/>
              </a:solidFill>
              <a:latin typeface="Consolas" panose="020B0609020204030204" pitchFamily="49" charset="0"/>
            </a:endParaRPr>
          </a:p>
        </p:txBody>
      </p:sp>
      <p:pic>
        <p:nvPicPr>
          <p:cNvPr id="2" name="Google Shape;21;p9">
            <a:extLst>
              <a:ext uri="{FF2B5EF4-FFF2-40B4-BE49-F238E27FC236}">
                <a16:creationId xmlns:a16="http://schemas.microsoft.com/office/drawing/2014/main" id="{3976F178-EB9D-D22A-D9A9-8B877656F7D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178037" y="40605"/>
            <a:ext cx="1965963" cy="568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2400" y="152400"/>
            <a:ext cx="452335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Laravel – Directory Structure </a:t>
            </a:r>
            <a:endParaRPr lang="en-US" sz="2800" dirty="0">
              <a:solidFill>
                <a:srgbClr val="C0000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lum bright="-40000" contrast="55000"/>
          </a:blip>
          <a:stretch>
            <a:fillRect/>
          </a:stretch>
        </p:blipFill>
        <p:spPr bwMode="auto">
          <a:xfrm>
            <a:off x="6177843" y="38769"/>
            <a:ext cx="1746957" cy="674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routes.JPG"/>
          <p:cNvPicPr>
            <a:picLocks noChangeAspect="1"/>
          </p:cNvPicPr>
          <p:nvPr/>
        </p:nvPicPr>
        <p:blipFill>
          <a:blip r:embed="rId4">
            <a:lum bright="-21000" contrast="41000"/>
          </a:blip>
          <a:stretch>
            <a:fillRect/>
          </a:stretch>
        </p:blipFill>
        <p:spPr>
          <a:xfrm>
            <a:off x="4572000" y="1905000"/>
            <a:ext cx="1600200" cy="1257300"/>
          </a:xfrm>
          <a:prstGeom prst="rect">
            <a:avLst/>
          </a:prstGeom>
        </p:spPr>
      </p:pic>
      <p:pic>
        <p:nvPicPr>
          <p:cNvPr id="8" name="Picture 7" descr="app.JPG"/>
          <p:cNvPicPr>
            <a:picLocks noChangeAspect="1"/>
          </p:cNvPicPr>
          <p:nvPr/>
        </p:nvPicPr>
        <p:blipFill>
          <a:blip r:embed="rId5">
            <a:lum bright="-21000" contrast="41000"/>
          </a:blip>
          <a:stretch>
            <a:fillRect/>
          </a:stretch>
        </p:blipFill>
        <p:spPr>
          <a:xfrm>
            <a:off x="4638675" y="95250"/>
            <a:ext cx="1533525" cy="1428750"/>
          </a:xfrm>
          <a:prstGeom prst="rect">
            <a:avLst/>
          </a:prstGeom>
        </p:spPr>
      </p:pic>
      <p:pic>
        <p:nvPicPr>
          <p:cNvPr id="9" name="Picture 8" descr="resources.JPG"/>
          <p:cNvPicPr>
            <a:picLocks noChangeAspect="1"/>
          </p:cNvPicPr>
          <p:nvPr/>
        </p:nvPicPr>
        <p:blipFill>
          <a:blip r:embed="rId6">
            <a:lum bright="-21000" contrast="41000"/>
          </a:blip>
          <a:stretch>
            <a:fillRect/>
          </a:stretch>
        </p:blipFill>
        <p:spPr>
          <a:xfrm>
            <a:off x="7448550" y="1600200"/>
            <a:ext cx="1695450" cy="172402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52400" y="893088"/>
            <a:ext cx="4343400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rgbClr val="002060"/>
                </a:solidFill>
              </a:rPr>
              <a:t>app: </a:t>
            </a:r>
            <a:r>
              <a:rPr lang="en-US" dirty="0"/>
              <a:t>This directory contains the core code of the application. </a:t>
            </a:r>
          </a:p>
          <a:p>
            <a:pPr algn="just"/>
            <a:r>
              <a:rPr lang="en-US" b="1" dirty="0"/>
              <a:t>http-</a:t>
            </a:r>
            <a:r>
              <a:rPr lang="en-US" dirty="0"/>
              <a:t>&gt;Controller – Controller will store here</a:t>
            </a:r>
          </a:p>
          <a:p>
            <a:pPr algn="just"/>
            <a:r>
              <a:rPr lang="en-US" dirty="0"/>
              <a:t>http-&gt;Middleware – Acts as a guard. Define access allowed or not.</a:t>
            </a:r>
          </a:p>
          <a:p>
            <a:pPr algn="just"/>
            <a:r>
              <a:rPr lang="en-US" b="1" dirty="0">
                <a:solidFill>
                  <a:srgbClr val="002060"/>
                </a:solidFill>
              </a:rPr>
              <a:t>bootstrap: </a:t>
            </a:r>
            <a:r>
              <a:rPr lang="en-US" dirty="0"/>
              <a:t>This directory contains the application bootstrapping script to Speed up the process </a:t>
            </a:r>
          </a:p>
          <a:p>
            <a:pPr algn="just"/>
            <a:r>
              <a:rPr lang="en-US" b="1" dirty="0">
                <a:solidFill>
                  <a:srgbClr val="002060"/>
                </a:solidFill>
              </a:rPr>
              <a:t>config: </a:t>
            </a:r>
            <a:r>
              <a:rPr lang="en-US" dirty="0"/>
              <a:t>This directory contains configuration files of application. </a:t>
            </a:r>
          </a:p>
          <a:p>
            <a:pPr algn="just"/>
            <a:endParaRPr lang="en-US" dirty="0"/>
          </a:p>
          <a:p>
            <a:pPr algn="just"/>
            <a:r>
              <a:rPr lang="en-US" b="1" dirty="0">
                <a:solidFill>
                  <a:srgbClr val="002060"/>
                </a:solidFill>
              </a:rPr>
              <a:t>database: </a:t>
            </a:r>
            <a:r>
              <a:rPr lang="en-US" dirty="0"/>
              <a:t>This folder contains your database migration and seeds. </a:t>
            </a:r>
          </a:p>
          <a:p>
            <a:pPr algn="just"/>
            <a:endParaRPr lang="en-US" dirty="0"/>
          </a:p>
          <a:p>
            <a:pPr algn="just"/>
            <a:r>
              <a:rPr lang="en-US" b="1" dirty="0">
                <a:solidFill>
                  <a:srgbClr val="002060"/>
                </a:solidFill>
              </a:rPr>
              <a:t>public: </a:t>
            </a:r>
            <a:r>
              <a:rPr lang="en-US" dirty="0"/>
              <a:t>This is the application’s document root. It starts the Laravel application. </a:t>
            </a:r>
          </a:p>
          <a:p>
            <a:pPr algn="just"/>
            <a:endParaRPr lang="en-US" dirty="0"/>
          </a:p>
          <a:p>
            <a:pPr algn="just"/>
            <a:r>
              <a:rPr lang="en-US" b="1" dirty="0">
                <a:solidFill>
                  <a:srgbClr val="002060"/>
                </a:solidFill>
              </a:rPr>
              <a:t>Resources: C</a:t>
            </a:r>
            <a:r>
              <a:rPr lang="en-US" dirty="0"/>
              <a:t>ontains JavaScript, CSS, Images, Views etc.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2400" y="152400"/>
            <a:ext cx="452335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Laravel – Directory Structure </a:t>
            </a:r>
            <a:endParaRPr lang="en-US" sz="2800" dirty="0">
              <a:solidFill>
                <a:srgbClr val="C0000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lum bright="-40000" contrast="55000"/>
          </a:blip>
          <a:stretch>
            <a:fillRect/>
          </a:stretch>
        </p:blipFill>
        <p:spPr bwMode="auto">
          <a:xfrm>
            <a:off x="6177843" y="38769"/>
            <a:ext cx="1746957" cy="674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routes.JPG"/>
          <p:cNvPicPr>
            <a:picLocks noChangeAspect="1"/>
          </p:cNvPicPr>
          <p:nvPr/>
        </p:nvPicPr>
        <p:blipFill>
          <a:blip r:embed="rId4">
            <a:lum bright="-21000" contrast="41000"/>
          </a:blip>
          <a:stretch>
            <a:fillRect/>
          </a:stretch>
        </p:blipFill>
        <p:spPr>
          <a:xfrm>
            <a:off x="4572000" y="1905000"/>
            <a:ext cx="1600200" cy="1257300"/>
          </a:xfrm>
          <a:prstGeom prst="rect">
            <a:avLst/>
          </a:prstGeom>
        </p:spPr>
      </p:pic>
      <p:pic>
        <p:nvPicPr>
          <p:cNvPr id="8" name="Picture 7" descr="app.JPG"/>
          <p:cNvPicPr>
            <a:picLocks noChangeAspect="1"/>
          </p:cNvPicPr>
          <p:nvPr/>
        </p:nvPicPr>
        <p:blipFill>
          <a:blip r:embed="rId5">
            <a:lum bright="-21000" contrast="41000"/>
          </a:blip>
          <a:stretch>
            <a:fillRect/>
          </a:stretch>
        </p:blipFill>
        <p:spPr>
          <a:xfrm>
            <a:off x="4638675" y="95250"/>
            <a:ext cx="1533525" cy="1428750"/>
          </a:xfrm>
          <a:prstGeom prst="rect">
            <a:avLst/>
          </a:prstGeom>
        </p:spPr>
      </p:pic>
      <p:pic>
        <p:nvPicPr>
          <p:cNvPr id="9" name="Picture 8" descr="resources.JPG"/>
          <p:cNvPicPr>
            <a:picLocks noChangeAspect="1"/>
          </p:cNvPicPr>
          <p:nvPr/>
        </p:nvPicPr>
        <p:blipFill>
          <a:blip r:embed="rId6">
            <a:lum bright="-21000" contrast="41000"/>
          </a:blip>
          <a:stretch>
            <a:fillRect/>
          </a:stretch>
        </p:blipFill>
        <p:spPr>
          <a:xfrm>
            <a:off x="7448550" y="1600200"/>
            <a:ext cx="1695450" cy="172402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52400" y="1295400"/>
            <a:ext cx="43434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rgbClr val="002060"/>
                </a:solidFill>
              </a:rPr>
              <a:t>storage: </a:t>
            </a:r>
            <a:r>
              <a:rPr lang="en-US" dirty="0"/>
              <a:t>This directory contains App storage, like file uploads etc. Framework storage (cache), and application-generated logs. </a:t>
            </a:r>
          </a:p>
          <a:p>
            <a:pPr algn="just"/>
            <a:endParaRPr lang="en-US" dirty="0"/>
          </a:p>
          <a:p>
            <a:pPr algn="just"/>
            <a:r>
              <a:rPr lang="en-US" b="1" dirty="0">
                <a:solidFill>
                  <a:srgbClr val="002060"/>
                </a:solidFill>
              </a:rPr>
              <a:t>test: </a:t>
            </a:r>
            <a:r>
              <a:rPr lang="en-US" dirty="0"/>
              <a:t>This directory contains various test cases. </a:t>
            </a:r>
          </a:p>
          <a:p>
            <a:pPr algn="just"/>
            <a:endParaRPr lang="en-US" dirty="0"/>
          </a:p>
          <a:p>
            <a:pPr algn="just"/>
            <a:r>
              <a:rPr lang="en-US" b="1" dirty="0">
                <a:solidFill>
                  <a:srgbClr val="002060"/>
                </a:solidFill>
              </a:rPr>
              <a:t>vendor: </a:t>
            </a:r>
            <a:r>
              <a:rPr lang="en-US" dirty="0"/>
              <a:t>This directory contains composer dependencies. </a:t>
            </a:r>
          </a:p>
          <a:p>
            <a:endParaRPr lang="en-US" dirty="0"/>
          </a:p>
          <a:p>
            <a:pPr algn="just"/>
            <a:r>
              <a:rPr lang="en-US" b="1" dirty="0">
                <a:solidFill>
                  <a:srgbClr val="002060"/>
                </a:solidFill>
              </a:rPr>
              <a:t>Console: </a:t>
            </a:r>
            <a:r>
              <a:rPr lang="en-US" dirty="0"/>
              <a:t>All the artisan commands are stored in this directory. </a:t>
            </a:r>
          </a:p>
          <a:p>
            <a:pPr algn="just"/>
            <a:endParaRPr lang="en-US" dirty="0"/>
          </a:p>
          <a:p>
            <a:pPr algn="just"/>
            <a:r>
              <a:rPr lang="en-US" b="1" dirty="0">
                <a:solidFill>
                  <a:srgbClr val="002060"/>
                </a:solidFill>
              </a:rPr>
              <a:t>Exceptions: </a:t>
            </a:r>
            <a:r>
              <a:rPr lang="en-US" dirty="0"/>
              <a:t>This directory contains your application's exception handler</a:t>
            </a:r>
          </a:p>
          <a:p>
            <a:pPr algn="just"/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228600"/>
            <a:ext cx="24443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MVC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38200"/>
            <a:ext cx="830580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Wingdings" pitchFamily="2" charset="2"/>
              <a:buChar char="q"/>
            </a:pPr>
            <a:r>
              <a:rPr lang="en-US" b="1" dirty="0"/>
              <a:t>M:</a:t>
            </a:r>
            <a:r>
              <a:rPr lang="en-US" dirty="0"/>
              <a:t> 'M' stands for </a:t>
            </a:r>
            <a:r>
              <a:rPr lang="en-US" b="1" dirty="0"/>
              <a:t>Model</a:t>
            </a:r>
            <a:r>
              <a:rPr lang="en-US" dirty="0"/>
              <a:t>. </a:t>
            </a:r>
          </a:p>
          <a:p>
            <a:pPr algn="just">
              <a:buFont typeface="Wingdings" pitchFamily="2" charset="2"/>
              <a:buChar char="q"/>
            </a:pPr>
            <a:endParaRPr lang="en-US" dirty="0"/>
          </a:p>
          <a:p>
            <a:pPr algn="just"/>
            <a:r>
              <a:rPr lang="en-US" dirty="0"/>
              <a:t>A model is a class that deals with a database.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For example, if we have users in an application then we will have </a:t>
            </a:r>
            <a:r>
              <a:rPr lang="en-US" b="1" dirty="0"/>
              <a:t>users model </a:t>
            </a:r>
            <a:r>
              <a:rPr lang="en-US" dirty="0"/>
              <a:t>that deals with a database to query the table of users </a:t>
            </a:r>
            <a:r>
              <a:rPr lang="en-US" b="1" dirty="0"/>
              <a:t>if we have users model, </a:t>
            </a:r>
            <a:r>
              <a:rPr lang="en-US" dirty="0"/>
              <a:t>then we will </a:t>
            </a:r>
            <a:r>
              <a:rPr lang="en-US" b="1" dirty="0"/>
              <a:t>also have a users table</a:t>
            </a:r>
            <a:r>
              <a:rPr lang="en-US" dirty="0"/>
              <a:t>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We conclude from the example that the model is going to have a table for that specific model.</a:t>
            </a:r>
          </a:p>
          <a:p>
            <a:pPr algn="just"/>
            <a:endParaRPr lang="en-US" dirty="0"/>
          </a:p>
          <a:p>
            <a:pPr algn="just">
              <a:buFont typeface="Wingdings" pitchFamily="2" charset="2"/>
              <a:buChar char="q"/>
            </a:pPr>
            <a:r>
              <a:rPr lang="en-US" b="1" dirty="0"/>
              <a:t>V:</a:t>
            </a:r>
            <a:r>
              <a:rPr lang="en-US" dirty="0"/>
              <a:t> 'V' stands for </a:t>
            </a:r>
            <a:r>
              <a:rPr lang="en-US" b="1" dirty="0"/>
              <a:t>View</a:t>
            </a:r>
            <a:r>
              <a:rPr lang="en-US" dirty="0"/>
              <a:t>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A view is a class that deals with an HTML. Everything that we can see on the application in the browser is the view or the representation.</a:t>
            </a:r>
          </a:p>
          <a:p>
            <a:pPr algn="just"/>
            <a:endParaRPr lang="en-US" dirty="0"/>
          </a:p>
          <a:p>
            <a:pPr algn="just">
              <a:buFont typeface="Wingdings" pitchFamily="2" charset="2"/>
              <a:buChar char="q"/>
            </a:pPr>
            <a:r>
              <a:rPr lang="en-US" b="1" dirty="0"/>
              <a:t>C:</a:t>
            </a:r>
            <a:r>
              <a:rPr lang="en-US" dirty="0"/>
              <a:t> 'C' stands for </a:t>
            </a:r>
            <a:r>
              <a:rPr lang="en-US" b="1" dirty="0"/>
              <a:t>Controller</a:t>
            </a:r>
            <a:r>
              <a:rPr lang="en-US" dirty="0"/>
              <a:t>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A controller is the middle-man that deals with both model and view. </a:t>
            </a:r>
          </a:p>
          <a:p>
            <a:pPr algn="just"/>
            <a:r>
              <a:rPr lang="en-US" dirty="0"/>
              <a:t>A controller is the class that retrieves the data from the model and sends the data to the view class.</a:t>
            </a:r>
          </a:p>
        </p:txBody>
      </p:sp>
      <p:pic>
        <p:nvPicPr>
          <p:cNvPr id="2" name="Google Shape;21;p9">
            <a:extLst>
              <a:ext uri="{FF2B5EF4-FFF2-40B4-BE49-F238E27FC236}">
                <a16:creationId xmlns:a16="http://schemas.microsoft.com/office/drawing/2014/main" id="{BA1224D1-763B-D4EA-2F74-EE9016EDF22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178037" y="40605"/>
            <a:ext cx="1965963" cy="568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228600"/>
            <a:ext cx="28248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MVC Architecture</a:t>
            </a:r>
          </a:p>
        </p:txBody>
      </p:sp>
      <p:pic>
        <p:nvPicPr>
          <p:cNvPr id="3" name="Picture 2" descr="laravelMV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57656"/>
            <a:ext cx="9144000" cy="5266944"/>
          </a:xfrm>
          <a:prstGeom prst="rect">
            <a:avLst/>
          </a:prstGeom>
        </p:spPr>
      </p:pic>
      <p:pic>
        <p:nvPicPr>
          <p:cNvPr id="2" name="Google Shape;21;p9">
            <a:extLst>
              <a:ext uri="{FF2B5EF4-FFF2-40B4-BE49-F238E27FC236}">
                <a16:creationId xmlns:a16="http://schemas.microsoft.com/office/drawing/2014/main" id="{0FADF166-8D6A-1208-1D41-40AB833B67C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78037" y="40605"/>
            <a:ext cx="1965963" cy="568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52400"/>
            <a:ext cx="28439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Routing in Laravel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762000"/>
            <a:ext cx="8305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q"/>
            </a:pPr>
            <a:r>
              <a:rPr lang="en-US" dirty="0"/>
              <a:t>Routing means, route your request to an appropriate controller.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The routes of the application can be defined in </a:t>
            </a:r>
            <a:r>
              <a:rPr lang="en-US" b="1" dirty="0"/>
              <a:t>routes/web.php file. 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Controller play important role between View and Model.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General route Syntax:</a:t>
            </a:r>
          </a:p>
        </p:txBody>
      </p:sp>
      <p:pic>
        <p:nvPicPr>
          <p:cNvPr id="4" name="Picture 3" descr="Capture.JPG"/>
          <p:cNvPicPr>
            <a:picLocks noChangeAspect="1"/>
          </p:cNvPicPr>
          <p:nvPr/>
        </p:nvPicPr>
        <p:blipFill>
          <a:blip r:embed="rId2">
            <a:lum bright="-25000" contrast="51000"/>
          </a:blip>
          <a:stretch>
            <a:fillRect/>
          </a:stretch>
        </p:blipFill>
        <p:spPr>
          <a:xfrm>
            <a:off x="761999" y="2009633"/>
            <a:ext cx="3726517" cy="4772167"/>
          </a:xfrm>
          <a:prstGeom prst="rect">
            <a:avLst/>
          </a:prstGeom>
        </p:spPr>
      </p:pic>
      <p:pic>
        <p:nvPicPr>
          <p:cNvPr id="5" name="Google Shape;21;p9">
            <a:extLst>
              <a:ext uri="{FF2B5EF4-FFF2-40B4-BE49-F238E27FC236}">
                <a16:creationId xmlns:a16="http://schemas.microsoft.com/office/drawing/2014/main" id="{AD8742CA-F13E-02E1-A84A-25A1F955BC2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78037" y="40605"/>
            <a:ext cx="1965963" cy="568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76200"/>
            <a:ext cx="6581775" cy="32229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 descr="Capture.JPG"/>
          <p:cNvPicPr>
            <a:picLocks noChangeAspect="1"/>
          </p:cNvPicPr>
          <p:nvPr/>
        </p:nvPicPr>
        <p:blipFill>
          <a:blip r:embed="rId3">
            <a:lum bright="-23000" contrast="54000"/>
          </a:blip>
          <a:stretch>
            <a:fillRect/>
          </a:stretch>
        </p:blipFill>
        <p:spPr>
          <a:xfrm>
            <a:off x="533400" y="3429000"/>
            <a:ext cx="3810000" cy="31094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4" name="TextBox 3"/>
          <p:cNvSpPr txBox="1"/>
          <p:nvPr/>
        </p:nvSpPr>
        <p:spPr>
          <a:xfrm>
            <a:off x="4724400" y="381000"/>
            <a:ext cx="2133600" cy="40011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000" b="1" dirty="0"/>
              <a:t>routes/web.php</a:t>
            </a:r>
          </a:p>
        </p:txBody>
      </p:sp>
      <p:pic>
        <p:nvPicPr>
          <p:cNvPr id="2" name="Google Shape;21;p9">
            <a:extLst>
              <a:ext uri="{FF2B5EF4-FFF2-40B4-BE49-F238E27FC236}">
                <a16:creationId xmlns:a16="http://schemas.microsoft.com/office/drawing/2014/main" id="{21185F82-DF77-40EA-46E5-BB75DBBBDE1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78037" y="40605"/>
            <a:ext cx="1965963" cy="568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762001"/>
            <a:ext cx="85344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Some times we need to capture the parameters passed with the URL. </a:t>
            </a:r>
          </a:p>
          <a:p>
            <a:r>
              <a:rPr lang="en-US" dirty="0"/>
              <a:t>To do this, we need to modify the code in </a:t>
            </a:r>
            <a:r>
              <a:rPr lang="en-US" b="1" dirty="0">
                <a:solidFill>
                  <a:srgbClr val="C00000"/>
                </a:solidFill>
              </a:rPr>
              <a:t>web.php</a:t>
            </a:r>
          </a:p>
          <a:p>
            <a:endParaRPr lang="en-US" dirty="0"/>
          </a:p>
          <a:p>
            <a:pPr lvl="1">
              <a:buFont typeface="Wingdings" pitchFamily="2" charset="2"/>
              <a:buChar char="q"/>
            </a:pPr>
            <a:r>
              <a:rPr lang="en-US" dirty="0"/>
              <a:t>Required Parameters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Optional Parameters</a:t>
            </a:r>
          </a:p>
          <a:p>
            <a:endParaRPr lang="en-US" dirty="0"/>
          </a:p>
          <a:p>
            <a:r>
              <a:rPr lang="en-US" b="1" dirty="0"/>
              <a:t>Required Parameters </a:t>
            </a:r>
          </a:p>
          <a:p>
            <a:endParaRPr lang="en-US" b="1" dirty="0"/>
          </a:p>
          <a:p>
            <a:pPr>
              <a:buFont typeface="Wingdings" pitchFamily="2" charset="2"/>
              <a:buChar char="ü"/>
            </a:pPr>
            <a:r>
              <a:rPr lang="en-US" dirty="0"/>
              <a:t>These parameters must be present in the URL. </a:t>
            </a:r>
          </a:p>
          <a:p>
            <a:pPr>
              <a:buFont typeface="Wingdings" pitchFamily="2" charset="2"/>
              <a:buChar char="ü"/>
            </a:pPr>
            <a:r>
              <a:rPr lang="en-US" dirty="0"/>
              <a:t>For example,  if you want to capture the</a:t>
            </a:r>
            <a:r>
              <a:rPr lang="en-US" b="1" dirty="0">
                <a:solidFill>
                  <a:srgbClr val="C00000"/>
                </a:solidFill>
              </a:rPr>
              <a:t> ID </a:t>
            </a:r>
            <a:r>
              <a:rPr lang="en-US" dirty="0"/>
              <a:t>from the URL.  The sample coding is</a:t>
            </a:r>
          </a:p>
          <a:p>
            <a:endParaRPr lang="en-US" b="1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buFont typeface="Wingdings" pitchFamily="2" charset="2"/>
              <a:buChar char="ü"/>
            </a:pPr>
            <a:r>
              <a:rPr lang="en-US" dirty="0"/>
              <a:t>Whatever argument that we pass after the root URL (http://localhost:8000/emp/5), it will be stored in $id and we can use that parameter for further processing but here we are simply displaying it. </a:t>
            </a:r>
          </a:p>
          <a:p>
            <a:pPr>
              <a:buFont typeface="Wingdings" pitchFamily="2" charset="2"/>
              <a:buChar char="ü"/>
            </a:pPr>
            <a:r>
              <a:rPr lang="en-US" dirty="0"/>
              <a:t>We can pass it onto view or controller for further processing. </a:t>
            </a:r>
          </a:p>
        </p:txBody>
      </p:sp>
      <p:sp>
        <p:nvSpPr>
          <p:cNvPr id="3" name="Rectangle 2"/>
          <p:cNvSpPr/>
          <p:nvPr/>
        </p:nvSpPr>
        <p:spPr>
          <a:xfrm>
            <a:off x="304800" y="228600"/>
            <a:ext cx="233839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Routing Parameters </a:t>
            </a:r>
          </a:p>
        </p:txBody>
      </p:sp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381000" y="3880991"/>
            <a:ext cx="8077200" cy="538609"/>
          </a:xfrm>
          <a:prstGeom prst="rect">
            <a:avLst/>
          </a:prstGeom>
          <a:solidFill>
            <a:srgbClr val="2D2D2D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rgbClr val="F8C555"/>
                </a:solidFill>
                <a:effectLst/>
                <a:latin typeface="var(--bs-font-monospace)"/>
                <a:cs typeface="Arial" pitchFamily="34" charset="0"/>
              </a:rPr>
              <a:t>Route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rgbClr val="CCCCCC"/>
                </a:solidFill>
                <a:effectLst/>
                <a:latin typeface="var(--bs-font-monospace)"/>
                <a:cs typeface="Arial" pitchFamily="34" charset="0"/>
              </a:rPr>
              <a:t> 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rgbClr val="67CDCC"/>
                </a:solidFill>
                <a:effectLst/>
                <a:latin typeface="var(--bs-font-monospace)"/>
                <a:cs typeface="Arial" pitchFamily="34" charset="0"/>
              </a:rPr>
              <a:t>::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rgbClr val="CCCCCC"/>
                </a:solidFill>
                <a:effectLst/>
                <a:latin typeface="var(--bs-font-monospace)"/>
                <a:cs typeface="Arial" pitchFamily="34" charset="0"/>
              </a:rPr>
              <a:t> 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rgbClr val="F08D49"/>
                </a:solidFill>
                <a:effectLst/>
                <a:latin typeface="var(--bs-font-monospace)"/>
                <a:cs typeface="Arial" pitchFamily="34" charset="0"/>
              </a:rPr>
              <a:t>get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rgbClr val="CCCCCC"/>
                </a:solidFill>
                <a:effectLst/>
                <a:latin typeface="var(--bs-font-monospace)"/>
                <a:cs typeface="Arial" pitchFamily="34" charset="0"/>
              </a:rPr>
              <a:t> (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rgbClr val="7EC699"/>
                </a:solidFill>
                <a:effectLst/>
                <a:latin typeface="var(--bs-font-monospace)"/>
                <a:cs typeface="Arial" pitchFamily="34" charset="0"/>
              </a:rPr>
              <a:t>'</a:t>
            </a:r>
            <a:r>
              <a:rPr kumimoji="0" lang="en-US" sz="1600" b="1" i="0" u="none" strike="noStrike" cap="none" normalizeH="0" baseline="0" dirty="0" err="1">
                <a:ln>
                  <a:noFill/>
                </a:ln>
                <a:solidFill>
                  <a:srgbClr val="7EC699"/>
                </a:solidFill>
                <a:effectLst/>
                <a:latin typeface="var(--bs-font-monospace)"/>
                <a:cs typeface="Arial" pitchFamily="34" charset="0"/>
              </a:rPr>
              <a:t>emp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rgbClr val="7EC699"/>
                </a:solidFill>
                <a:effectLst/>
                <a:latin typeface="var(--bs-font-monospace)"/>
                <a:cs typeface="Arial" pitchFamily="34" charset="0"/>
              </a:rPr>
              <a:t>/{id}'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rgbClr val="CCCCCC"/>
                </a:solidFill>
                <a:effectLst/>
                <a:latin typeface="var(--bs-font-monospace)"/>
                <a:cs typeface="Arial" pitchFamily="34" charset="0"/>
              </a:rPr>
              <a:t>, 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rgbClr val="CC99CD"/>
                </a:solidFill>
                <a:effectLst/>
                <a:latin typeface="var(--bs-font-monospace)"/>
                <a:cs typeface="Arial" pitchFamily="34" charset="0"/>
              </a:rPr>
              <a:t>function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rgbClr val="CCCCCC"/>
                </a:solidFill>
                <a:effectLst/>
                <a:latin typeface="var(--bs-font-monospace)"/>
                <a:cs typeface="Arial" pitchFamily="34" charset="0"/>
              </a:rPr>
              <a:t> (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rgbClr val="7EC699"/>
                </a:solidFill>
                <a:effectLst/>
                <a:latin typeface="var(--bs-font-monospace)"/>
                <a:cs typeface="Arial" pitchFamily="34" charset="0"/>
              </a:rPr>
              <a:t>$id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rgbClr val="CCCCCC"/>
                </a:solidFill>
                <a:effectLst/>
                <a:latin typeface="var(--bs-font-monospace)"/>
                <a:cs typeface="Arial" pitchFamily="34" charset="0"/>
              </a:rPr>
              <a:t>) 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rgbClr val="CCCCCC"/>
                </a:solidFill>
                <a:effectLst/>
                <a:latin typeface="var(--bs-font-monospace)"/>
                <a:cs typeface="Arial" pitchFamily="34" charset="0"/>
              </a:rPr>
              <a:t> 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rgbClr val="CC99CD"/>
                </a:solidFill>
                <a:effectLst/>
                <a:latin typeface="var(--bs-font-monospace)"/>
                <a:cs typeface="Arial" pitchFamily="34" charset="0"/>
              </a:rPr>
              <a:t>echo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rgbClr val="CCCCCC"/>
                </a:solidFill>
                <a:effectLst/>
                <a:latin typeface="var(--bs-font-monospace)"/>
                <a:cs typeface="Arial" pitchFamily="34" charset="0"/>
              </a:rPr>
              <a:t> 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rgbClr val="7EC699"/>
                </a:solidFill>
                <a:effectLst/>
                <a:latin typeface="var(--bs-font-monospace)"/>
                <a:cs typeface="Arial" pitchFamily="34" charset="0"/>
              </a:rPr>
              <a:t>'Emp</a:t>
            </a:r>
            <a:r>
              <a:rPr lang="en-US" sz="1600" b="1" dirty="0">
                <a:solidFill>
                  <a:srgbClr val="7EC699"/>
                </a:solidFill>
                <a:latin typeface="var(--bs-font-monospace)"/>
                <a:cs typeface="Arial" pitchFamily="34" charset="0"/>
              </a:rPr>
              <a:t>loyee ID is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rgbClr val="7EC699"/>
                </a:solidFill>
                <a:effectLst/>
                <a:latin typeface="var(--bs-font-monospace)"/>
                <a:cs typeface="Arial" pitchFamily="34" charset="0"/>
              </a:rPr>
              <a:t>'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rgbClr val="67CDCC"/>
                </a:solidFill>
                <a:effectLst/>
                <a:latin typeface="var(--bs-font-monospace)"/>
                <a:cs typeface="Arial" pitchFamily="34" charset="0"/>
              </a:rPr>
              <a:t>. 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rgbClr val="7EC699"/>
                </a:solidFill>
                <a:effectLst/>
                <a:latin typeface="var(--bs-font-monospace)"/>
                <a:cs typeface="Arial" pitchFamily="34" charset="0"/>
              </a:rPr>
              <a:t>$id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rgbClr val="CCCCCC"/>
                </a:solidFill>
                <a:effectLst/>
                <a:latin typeface="var(--bs-font-monospace)"/>
                <a:cs typeface="Arial" pitchFamily="34" charset="0"/>
              </a:rPr>
              <a:t>; });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</a:p>
        </p:txBody>
      </p:sp>
      <p:pic>
        <p:nvPicPr>
          <p:cNvPr id="4" name="Google Shape;21;p9">
            <a:extLst>
              <a:ext uri="{FF2B5EF4-FFF2-40B4-BE49-F238E27FC236}">
                <a16:creationId xmlns:a16="http://schemas.microsoft.com/office/drawing/2014/main" id="{B9519732-706D-7622-00C6-2D9F6D391CC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178037" y="40605"/>
            <a:ext cx="1965963" cy="568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609600"/>
            <a:ext cx="81534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Optional Parameters </a:t>
            </a:r>
          </a:p>
          <a:p>
            <a:endParaRPr lang="en-US" b="1" dirty="0"/>
          </a:p>
          <a:p>
            <a:pPr>
              <a:buFont typeface="Wingdings" pitchFamily="2" charset="2"/>
              <a:buChar char="ü"/>
            </a:pPr>
            <a:r>
              <a:rPr lang="en-US" dirty="0"/>
              <a:t>Many parameters do not remain present within the URL, but the developers had to use them. </a:t>
            </a:r>
          </a:p>
          <a:p>
            <a:pPr>
              <a:buFont typeface="Wingdings" pitchFamily="2" charset="2"/>
              <a:buChar char="ü"/>
            </a:pPr>
            <a:r>
              <a:rPr lang="en-US" dirty="0"/>
              <a:t>Such parameters get indicated by a </a:t>
            </a:r>
            <a:r>
              <a:rPr lang="en-US" b="1" dirty="0">
                <a:solidFill>
                  <a:srgbClr val="C00000"/>
                </a:solidFill>
              </a:rPr>
              <a:t>"?" (question mark sign) </a:t>
            </a:r>
            <a:r>
              <a:rPr lang="en-US" dirty="0"/>
              <a:t>following the parameter's name.</a:t>
            </a:r>
          </a:p>
          <a:p>
            <a:pPr>
              <a:buFont typeface="Wingdings" pitchFamily="2" charset="2"/>
              <a:buChar char="ü"/>
            </a:pPr>
            <a:r>
              <a:rPr lang="en-US" dirty="0"/>
              <a:t>The presence of these parameters is not necessary in the URL. </a:t>
            </a:r>
          </a:p>
          <a:p>
            <a:endParaRPr lang="en-US" b="1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7169" name="Rectangle 1"/>
          <p:cNvSpPr>
            <a:spLocks noChangeArrowheads="1"/>
          </p:cNvSpPr>
          <p:nvPr/>
        </p:nvSpPr>
        <p:spPr bwMode="auto">
          <a:xfrm>
            <a:off x="609600" y="3048000"/>
            <a:ext cx="7620000" cy="538609"/>
          </a:xfrm>
          <a:prstGeom prst="rect">
            <a:avLst/>
          </a:prstGeom>
          <a:solidFill>
            <a:srgbClr val="2D2D2D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rgbClr val="F8C555"/>
                </a:solidFill>
                <a:effectLst/>
                <a:latin typeface="var(--bs-font-monospace)"/>
                <a:cs typeface="Arial" pitchFamily="34" charset="0"/>
              </a:rPr>
              <a:t>Route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rgbClr val="CCCCCC"/>
                </a:solidFill>
                <a:effectLst/>
                <a:latin typeface="var(--bs-font-monospace)"/>
                <a:cs typeface="Arial" pitchFamily="34" charset="0"/>
              </a:rPr>
              <a:t> 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rgbClr val="67CDCC"/>
                </a:solidFill>
                <a:effectLst/>
                <a:latin typeface="var(--bs-font-monospace)"/>
                <a:cs typeface="Arial" pitchFamily="34" charset="0"/>
              </a:rPr>
              <a:t>::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rgbClr val="CCCCCC"/>
                </a:solidFill>
                <a:effectLst/>
                <a:latin typeface="var(--bs-font-monospace)"/>
                <a:cs typeface="Arial" pitchFamily="34" charset="0"/>
              </a:rPr>
              <a:t> 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rgbClr val="F08D49"/>
                </a:solidFill>
                <a:effectLst/>
                <a:latin typeface="var(--bs-font-monospace)"/>
                <a:cs typeface="Arial" pitchFamily="34" charset="0"/>
              </a:rPr>
              <a:t>get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rgbClr val="CCCCCC"/>
                </a:solidFill>
                <a:effectLst/>
                <a:latin typeface="var(--bs-font-monospace)"/>
                <a:cs typeface="Arial" pitchFamily="34" charset="0"/>
              </a:rPr>
              <a:t> (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rgbClr val="7EC699"/>
                </a:solidFill>
                <a:effectLst/>
                <a:latin typeface="var(--bs-font-monospace)"/>
                <a:cs typeface="Arial" pitchFamily="34" charset="0"/>
              </a:rPr>
              <a:t>‘</a:t>
            </a:r>
            <a:r>
              <a:rPr kumimoji="0" lang="en-US" sz="1600" b="1" i="0" u="none" strike="noStrike" cap="none" normalizeH="0" baseline="0" dirty="0" err="1">
                <a:ln>
                  <a:noFill/>
                </a:ln>
                <a:solidFill>
                  <a:srgbClr val="7EC699"/>
                </a:solidFill>
                <a:effectLst/>
                <a:latin typeface="var(--bs-font-monospace)"/>
                <a:cs typeface="Arial" pitchFamily="34" charset="0"/>
              </a:rPr>
              <a:t>emp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rgbClr val="7EC699"/>
                </a:solidFill>
                <a:effectLst/>
                <a:latin typeface="var(--bs-font-monospace)"/>
                <a:cs typeface="Arial" pitchFamily="34" charset="0"/>
              </a:rPr>
              <a:t>/{name?}'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rgbClr val="CCCCCC"/>
                </a:solidFill>
                <a:effectLst/>
                <a:latin typeface="var(--bs-font-monospace)"/>
                <a:cs typeface="Arial" pitchFamily="34" charset="0"/>
              </a:rPr>
              <a:t>, 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rgbClr val="CC99CD"/>
                </a:solidFill>
                <a:effectLst/>
                <a:latin typeface="var(--bs-font-monospace)"/>
                <a:cs typeface="Arial" pitchFamily="34" charset="0"/>
              </a:rPr>
              <a:t>function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rgbClr val="CCCCCC"/>
                </a:solidFill>
                <a:effectLst/>
                <a:latin typeface="var(--bs-font-monospace)"/>
                <a:cs typeface="Arial" pitchFamily="34" charset="0"/>
              </a:rPr>
              <a:t> (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rgbClr val="7EC699"/>
                </a:solidFill>
                <a:effectLst/>
                <a:latin typeface="var(--bs-font-monospace)"/>
                <a:cs typeface="Arial" pitchFamily="34" charset="0"/>
              </a:rPr>
              <a:t>$name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rgbClr val="CCCCCC"/>
                </a:solidFill>
                <a:effectLst/>
                <a:latin typeface="var(--bs-font-monospace)"/>
                <a:cs typeface="Arial" pitchFamily="34" charset="0"/>
              </a:rPr>
              <a:t> 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rgbClr val="67CDCC"/>
                </a:solidFill>
                <a:effectLst/>
                <a:latin typeface="var(--bs-font-monospace)"/>
                <a:cs typeface="Arial" pitchFamily="34" charset="0"/>
              </a:rPr>
              <a:t>=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rgbClr val="CCCCCC"/>
                </a:solidFill>
                <a:effectLst/>
                <a:latin typeface="var(--bs-font-monospace)"/>
                <a:cs typeface="Arial" pitchFamily="34" charset="0"/>
              </a:rPr>
              <a:t> 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rgbClr val="7EC699"/>
                </a:solidFill>
                <a:effectLst/>
                <a:latin typeface="var(--bs-font-monospace)"/>
                <a:cs typeface="Arial" pitchFamily="34" charset="0"/>
              </a:rPr>
              <a:t>‘</a:t>
            </a:r>
            <a:r>
              <a:rPr kumimoji="0" lang="en-US" sz="1600" b="1" i="0" u="none" strike="noStrike" cap="none" normalizeH="0" baseline="0" dirty="0" err="1">
                <a:ln>
                  <a:noFill/>
                </a:ln>
                <a:solidFill>
                  <a:srgbClr val="7EC699"/>
                </a:solidFill>
                <a:effectLst/>
                <a:latin typeface="var(--bs-font-monospace)"/>
                <a:cs typeface="Arial" pitchFamily="34" charset="0"/>
              </a:rPr>
              <a:t>Sandip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rgbClr val="7EC699"/>
                </a:solidFill>
                <a:effectLst/>
                <a:latin typeface="var(--bs-font-monospace)"/>
                <a:cs typeface="Arial" pitchFamily="34" charset="0"/>
              </a:rPr>
              <a:t>'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rgbClr val="CCCCCC"/>
                </a:solidFill>
                <a:effectLst/>
                <a:latin typeface="var(--bs-font-monospace)"/>
                <a:cs typeface="Arial" pitchFamily="34" charset="0"/>
              </a:rPr>
              <a:t>) {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rgbClr val="CC99CD"/>
                </a:solidFill>
                <a:effectLst/>
                <a:latin typeface="var(--bs-font-monospace)"/>
                <a:cs typeface="Arial" pitchFamily="34" charset="0"/>
              </a:rPr>
              <a:t>echo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rgbClr val="CCCCCC"/>
                </a:solidFill>
                <a:effectLst/>
                <a:latin typeface="var(--bs-font-monospace)"/>
                <a:cs typeface="Arial" pitchFamily="34" charset="0"/>
              </a:rPr>
              <a:t> 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rgbClr val="7EC699"/>
                </a:solidFill>
                <a:effectLst/>
                <a:latin typeface="var(--bs-font-monospace)"/>
                <a:cs typeface="Arial" pitchFamily="34" charset="0"/>
              </a:rPr>
              <a:t>$name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rgbClr val="CCCCCC"/>
                </a:solidFill>
                <a:effectLst/>
                <a:latin typeface="var(--bs-font-monospace)"/>
                <a:cs typeface="Arial" pitchFamily="34" charset="0"/>
              </a:rPr>
              <a:t>; });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</a:p>
        </p:txBody>
      </p:sp>
      <p:pic>
        <p:nvPicPr>
          <p:cNvPr id="3" name="Google Shape;21;p9">
            <a:extLst>
              <a:ext uri="{FF2B5EF4-FFF2-40B4-BE49-F238E27FC236}">
                <a16:creationId xmlns:a16="http://schemas.microsoft.com/office/drawing/2014/main" id="{B1C532AB-844B-9622-53B8-8323C33AF58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178037" y="40605"/>
            <a:ext cx="1965963" cy="568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238780"/>
            <a:ext cx="16837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Controller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914400"/>
            <a:ext cx="8305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q"/>
            </a:pPr>
            <a:r>
              <a:rPr lang="en-US" dirty="0"/>
              <a:t>Controller are class based php files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Controllers can group </a:t>
            </a:r>
            <a:r>
              <a:rPr lang="en-US" dirty="0">
                <a:solidFill>
                  <a:srgbClr val="FF0000"/>
                </a:solidFill>
              </a:rPr>
              <a:t>related request handling logic </a:t>
            </a:r>
            <a:r>
              <a:rPr lang="en-US" dirty="0"/>
              <a:t>into a single class.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Controller play important role between View and Model.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 Controllers directs traffic among the Views and the Models.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991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Types of Controller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743200"/>
            <a:ext cx="7848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q"/>
            </a:pPr>
            <a:r>
              <a:rPr lang="en-US" b="1" dirty="0"/>
              <a:t>Basic Controller </a:t>
            </a:r>
          </a:p>
          <a:p>
            <a:pPr lvl="1">
              <a:buFont typeface="Wingdings" pitchFamily="2" charset="2"/>
              <a:buChar char="ü"/>
            </a:pPr>
            <a:r>
              <a:rPr lang="en-US" dirty="0"/>
              <a:t>Simple controller without built-in methods. </a:t>
            </a:r>
            <a:endParaRPr lang="en-US" b="1" dirty="0"/>
          </a:p>
          <a:p>
            <a:pPr>
              <a:buFont typeface="Wingdings" pitchFamily="2" charset="2"/>
              <a:buChar char="q"/>
            </a:pPr>
            <a:r>
              <a:rPr lang="en-US" b="1" dirty="0"/>
              <a:t>Resource Controller	</a:t>
            </a:r>
          </a:p>
          <a:p>
            <a:pPr marL="463550" lvl="1">
              <a:buFont typeface="Wingdings" pitchFamily="2" charset="2"/>
              <a:buChar char="ü"/>
            </a:pPr>
            <a:r>
              <a:rPr lang="en-US" dirty="0"/>
              <a:t>Controller with built-in methods. </a:t>
            </a:r>
            <a:endParaRPr lang="en-US" b="1" dirty="0"/>
          </a:p>
          <a:p>
            <a:pPr marL="463550" lvl="1">
              <a:buFont typeface="Wingdings" pitchFamily="2" charset="2"/>
              <a:buChar char="ü"/>
            </a:pPr>
            <a:r>
              <a:rPr lang="en-US" dirty="0"/>
              <a:t>Used for CRUD Operations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343400"/>
            <a:ext cx="2159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Creating a Controller</a:t>
            </a:r>
          </a:p>
        </p:txBody>
      </p:sp>
      <p:sp>
        <p:nvSpPr>
          <p:cNvPr id="4097" name="Rectangle 1"/>
          <p:cNvSpPr>
            <a:spLocks noChangeArrowheads="1"/>
          </p:cNvSpPr>
          <p:nvPr/>
        </p:nvSpPr>
        <p:spPr bwMode="auto">
          <a:xfrm>
            <a:off x="457200" y="4858436"/>
            <a:ext cx="4953000" cy="323165"/>
          </a:xfrm>
          <a:prstGeom prst="rect">
            <a:avLst/>
          </a:prstGeom>
          <a:solidFill>
            <a:srgbClr val="EEEEEE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php artisan make : controller  &lt;controller-name&gt;</a:t>
            </a: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67400" y="4782235"/>
            <a:ext cx="1683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Basic Controller</a:t>
            </a:r>
          </a:p>
        </p:txBody>
      </p:sp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457200" y="5468035"/>
            <a:ext cx="5791200" cy="323165"/>
          </a:xfrm>
          <a:prstGeom prst="rect">
            <a:avLst/>
          </a:prstGeom>
          <a:solidFill>
            <a:srgbClr val="EEEEEE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php artisan make : controller  &lt;</a:t>
            </a:r>
            <a:r>
              <a:rPr lang="en-US" dirty="0">
                <a:solidFill>
                  <a:srgbClr val="000000"/>
                </a:solidFill>
                <a:cs typeface="Arial" pitchFamily="34" charset="0"/>
              </a:rPr>
              <a:t>controller-name&gt;  --resource </a:t>
            </a: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0593" y="5391835"/>
            <a:ext cx="2066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Resource Controller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6019800"/>
            <a:ext cx="8229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The created controller can be seen at </a:t>
            </a:r>
            <a:r>
              <a:rPr lang="en-US" b="1" dirty="0"/>
              <a:t>app/Http/Controllers</a:t>
            </a:r>
            <a:r>
              <a:rPr lang="en-US" dirty="0"/>
              <a:t>.</a:t>
            </a:r>
          </a:p>
        </p:txBody>
      </p:sp>
      <p:pic>
        <p:nvPicPr>
          <p:cNvPr id="2" name="Google Shape;21;p9">
            <a:extLst>
              <a:ext uri="{FF2B5EF4-FFF2-40B4-BE49-F238E27FC236}">
                <a16:creationId xmlns:a16="http://schemas.microsoft.com/office/drawing/2014/main" id="{166FFF09-6F96-EBDD-A780-3A56FEFA545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178037" y="40605"/>
            <a:ext cx="1965963" cy="568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eb.php.JPG"/>
          <p:cNvPicPr>
            <a:picLocks noChangeAspect="1"/>
          </p:cNvPicPr>
          <p:nvPr/>
        </p:nvPicPr>
        <p:blipFill>
          <a:blip r:embed="rId2">
            <a:lum bright="-16000" contrast="28000"/>
          </a:blip>
          <a:stretch>
            <a:fillRect/>
          </a:stretch>
        </p:blipFill>
        <p:spPr>
          <a:xfrm>
            <a:off x="609600" y="4267200"/>
            <a:ext cx="7326489" cy="2438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3" name="Picture 2" descr="mycontroller.JPG"/>
          <p:cNvPicPr>
            <a:picLocks noChangeAspect="1"/>
          </p:cNvPicPr>
          <p:nvPr/>
        </p:nvPicPr>
        <p:blipFill>
          <a:blip r:embed="rId3">
            <a:lum bright="-29000" contrast="48000"/>
          </a:blip>
          <a:stretch>
            <a:fillRect/>
          </a:stretch>
        </p:blipFill>
        <p:spPr>
          <a:xfrm>
            <a:off x="609600" y="685800"/>
            <a:ext cx="4146499" cy="28956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4" name="TextBox 3"/>
          <p:cNvSpPr txBox="1"/>
          <p:nvPr/>
        </p:nvSpPr>
        <p:spPr>
          <a:xfrm>
            <a:off x="609600" y="240268"/>
            <a:ext cx="3004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Controller -  mycontroller.php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810000"/>
            <a:ext cx="416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Call the Controller from routes -  web.php</a:t>
            </a:r>
          </a:p>
        </p:txBody>
      </p:sp>
      <p:pic>
        <p:nvPicPr>
          <p:cNvPr id="6" name="Picture 5" descr="user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762000"/>
            <a:ext cx="3924300" cy="17430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7" name="TextBox 6"/>
          <p:cNvSpPr txBox="1"/>
          <p:nvPr/>
        </p:nvSpPr>
        <p:spPr>
          <a:xfrm>
            <a:off x="6096000" y="304800"/>
            <a:ext cx="1392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View -  users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2B2B2-44F0-445E-37D2-8C78363AD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21;p9">
            <a:extLst>
              <a:ext uri="{FF2B5EF4-FFF2-40B4-BE49-F238E27FC236}">
                <a16:creationId xmlns:a16="http://schemas.microsoft.com/office/drawing/2014/main" id="{9326CFBA-92AB-74EF-F5D9-7C60A803AB9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178037" y="40605"/>
            <a:ext cx="1965963" cy="56899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6625939-CC4A-46F4-DDA6-E0E067C2C9E8}"/>
              </a:ext>
            </a:extLst>
          </p:cNvPr>
          <p:cNvSpPr txBox="1"/>
          <p:nvPr/>
        </p:nvSpPr>
        <p:spPr>
          <a:xfrm>
            <a:off x="304800" y="228600"/>
            <a:ext cx="5715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Pass data from a Controller to a View</a:t>
            </a:r>
            <a:endParaRPr lang="en-IN" sz="2400" b="1" dirty="0">
              <a:solidFill>
                <a:srgbClr val="C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0F8CD7-1C50-1A45-7CD5-2F7563C294CC}"/>
              </a:ext>
            </a:extLst>
          </p:cNvPr>
          <p:cNvSpPr txBox="1"/>
          <p:nvPr/>
        </p:nvSpPr>
        <p:spPr>
          <a:xfrm>
            <a:off x="304800" y="762000"/>
            <a:ext cx="8534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US" altLang="en-US" sz="2000" dirty="0"/>
              <a:t>We can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pass data from a controller to a view using various ways. 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168235-533D-9894-1FBD-98A37D9A90B2}"/>
              </a:ext>
            </a:extLst>
          </p:cNvPr>
          <p:cNvSpPr txBox="1"/>
          <p:nvPr/>
        </p:nvSpPr>
        <p:spPr>
          <a:xfrm>
            <a:off x="320749" y="2257485"/>
            <a:ext cx="4251251" cy="45243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dirty="0"/>
              <a:t>namespace App\Http\Controllers;</a:t>
            </a:r>
          </a:p>
          <a:p>
            <a:endParaRPr lang="en-IN" dirty="0"/>
          </a:p>
          <a:p>
            <a:r>
              <a:rPr lang="en-IN" dirty="0"/>
              <a:t>use Illuminate\Http\Request;</a:t>
            </a:r>
          </a:p>
          <a:p>
            <a:endParaRPr lang="en-IN" dirty="0"/>
          </a:p>
          <a:p>
            <a:r>
              <a:rPr lang="en-IN" dirty="0"/>
              <a:t>class </a:t>
            </a:r>
            <a:r>
              <a:rPr lang="en-IN" dirty="0" err="1"/>
              <a:t>UserController</a:t>
            </a:r>
            <a:r>
              <a:rPr lang="en-IN" dirty="0"/>
              <a:t> extends Controller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    public function </a:t>
            </a:r>
            <a:r>
              <a:rPr lang="en-IN" dirty="0" err="1"/>
              <a:t>showUser</a:t>
            </a:r>
            <a:r>
              <a:rPr lang="en-IN" dirty="0"/>
              <a:t>()</a:t>
            </a:r>
          </a:p>
          <a:p>
            <a:r>
              <a:rPr lang="en-IN" dirty="0"/>
              <a:t>    {</a:t>
            </a:r>
          </a:p>
          <a:p>
            <a:r>
              <a:rPr lang="en-IN" dirty="0"/>
              <a:t>        $name = "John Doe";</a:t>
            </a:r>
          </a:p>
          <a:p>
            <a:r>
              <a:rPr lang="en-IN" dirty="0"/>
              <a:t>        $email = "john@example.com";</a:t>
            </a:r>
          </a:p>
          <a:p>
            <a:endParaRPr lang="en-IN" dirty="0"/>
          </a:p>
          <a:p>
            <a:r>
              <a:rPr lang="en-IN" dirty="0"/>
              <a:t>        return view('</a:t>
            </a:r>
            <a:r>
              <a:rPr lang="en-IN" dirty="0" err="1"/>
              <a:t>user.profile</a:t>
            </a:r>
            <a:r>
              <a:rPr lang="en-IN" dirty="0"/>
              <a:t>', [</a:t>
            </a:r>
          </a:p>
          <a:p>
            <a:r>
              <a:rPr lang="en-IN" dirty="0"/>
              <a:t>            'name' =&gt; $name,</a:t>
            </a:r>
          </a:p>
          <a:p>
            <a:r>
              <a:rPr lang="en-IN" dirty="0"/>
              <a:t>            'email' =&gt; $email</a:t>
            </a:r>
          </a:p>
          <a:p>
            <a:r>
              <a:rPr lang="en-IN" dirty="0"/>
              <a:t>        ]);</a:t>
            </a:r>
          </a:p>
          <a:p>
            <a:r>
              <a:rPr lang="en-IN" dirty="0"/>
              <a:t>    }}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103987-E8C2-8663-A846-57179FB1EAFA}"/>
              </a:ext>
            </a:extLst>
          </p:cNvPr>
          <p:cNvSpPr txBox="1"/>
          <p:nvPr/>
        </p:nvSpPr>
        <p:spPr>
          <a:xfrm>
            <a:off x="5089451" y="2291477"/>
            <a:ext cx="3733800" cy="25853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dirty="0"/>
              <a:t>&lt;html&gt;</a:t>
            </a:r>
          </a:p>
          <a:p>
            <a:r>
              <a:rPr lang="en-IN" dirty="0"/>
              <a:t>&lt;head&gt;</a:t>
            </a:r>
          </a:p>
          <a:p>
            <a:r>
              <a:rPr lang="en-IN" dirty="0"/>
              <a:t>    &lt;title&gt;User Profile&lt;/title&gt;</a:t>
            </a:r>
          </a:p>
          <a:p>
            <a:r>
              <a:rPr lang="en-IN" dirty="0"/>
              <a:t>&lt;/head&gt;</a:t>
            </a:r>
          </a:p>
          <a:p>
            <a:r>
              <a:rPr lang="en-IN" dirty="0"/>
              <a:t>&lt;body&gt;</a:t>
            </a:r>
          </a:p>
          <a:p>
            <a:r>
              <a:rPr lang="en-IN" dirty="0"/>
              <a:t>    &lt;h1&gt;Welcome, {{ $name }}&lt;/h1&gt;</a:t>
            </a:r>
          </a:p>
          <a:p>
            <a:r>
              <a:rPr lang="en-IN" dirty="0"/>
              <a:t>    &lt;p&gt;Your email is: {{ $email }}&lt;/p&gt;</a:t>
            </a:r>
          </a:p>
          <a:p>
            <a:r>
              <a:rPr lang="en-IN" dirty="0"/>
              <a:t>&lt;/body&gt;</a:t>
            </a:r>
          </a:p>
          <a:p>
            <a:r>
              <a:rPr lang="en-IN" dirty="0"/>
              <a:t>&lt;/html&gt;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31E589-51C3-90F0-B940-E75BD33C4C92}"/>
              </a:ext>
            </a:extLst>
          </p:cNvPr>
          <p:cNvSpPr txBox="1"/>
          <p:nvPr/>
        </p:nvSpPr>
        <p:spPr>
          <a:xfrm>
            <a:off x="304800" y="1846255"/>
            <a:ext cx="2971800" cy="33855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Controller (UserController.php)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3ECCF08-30AC-448B-A2EE-700D54243076}"/>
              </a:ext>
            </a:extLst>
          </p:cNvPr>
          <p:cNvSpPr txBox="1"/>
          <p:nvPr/>
        </p:nvSpPr>
        <p:spPr>
          <a:xfrm>
            <a:off x="5470451" y="1866900"/>
            <a:ext cx="2971800" cy="33855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View (profile.blade.php)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B8F739-B1AA-29C6-85DE-C69A4BA902C2}"/>
              </a:ext>
            </a:extLst>
          </p:cNvPr>
          <p:cNvSpPr txBox="1"/>
          <p:nvPr/>
        </p:nvSpPr>
        <p:spPr>
          <a:xfrm>
            <a:off x="274320" y="1245513"/>
            <a:ext cx="4572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/>
              <a:t>Using associative array</a:t>
            </a:r>
          </a:p>
        </p:txBody>
      </p:sp>
    </p:spTree>
    <p:extLst>
      <p:ext uri="{BB962C8B-B14F-4D97-AF65-F5344CB8AC3E}">
        <p14:creationId xmlns:p14="http://schemas.microsoft.com/office/powerpoint/2010/main" val="20489874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EA8BC-4F6E-58EA-081C-BF633F2A3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21;p9">
            <a:extLst>
              <a:ext uri="{FF2B5EF4-FFF2-40B4-BE49-F238E27FC236}">
                <a16:creationId xmlns:a16="http://schemas.microsoft.com/office/drawing/2014/main" id="{A6CD6048-54CE-EF62-CF9F-81BD4218107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178037" y="40605"/>
            <a:ext cx="1965963" cy="56899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E1DC4DA-0F8A-E60E-4640-03526B57D47E}"/>
              </a:ext>
            </a:extLst>
          </p:cNvPr>
          <p:cNvSpPr txBox="1"/>
          <p:nvPr/>
        </p:nvSpPr>
        <p:spPr>
          <a:xfrm>
            <a:off x="533400" y="228600"/>
            <a:ext cx="5715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Pass data from a Controller to a View</a:t>
            </a:r>
            <a:endParaRPr lang="en-IN" sz="2400" b="1" dirty="0">
              <a:solidFill>
                <a:srgbClr val="C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66E154-966D-66DE-9E00-CC5837A2A20E}"/>
              </a:ext>
            </a:extLst>
          </p:cNvPr>
          <p:cNvSpPr txBox="1"/>
          <p:nvPr/>
        </p:nvSpPr>
        <p:spPr>
          <a:xfrm>
            <a:off x="685800" y="1295400"/>
            <a:ext cx="5943600" cy="20313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dirty="0"/>
              <a:t>public function </a:t>
            </a:r>
            <a:r>
              <a:rPr lang="en-IN" dirty="0" err="1"/>
              <a:t>showUser</a:t>
            </a:r>
            <a:r>
              <a:rPr lang="en-IN" dirty="0"/>
              <a:t>()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    $name = “kazi";</a:t>
            </a:r>
          </a:p>
          <a:p>
            <a:r>
              <a:rPr lang="en-IN" dirty="0"/>
              <a:t>    $email = “kazi@gmail.com";</a:t>
            </a:r>
          </a:p>
          <a:p>
            <a:endParaRPr lang="en-IN" dirty="0"/>
          </a:p>
          <a:p>
            <a:r>
              <a:rPr lang="en-IN" dirty="0"/>
              <a:t>    return view('</a:t>
            </a:r>
            <a:r>
              <a:rPr lang="en-IN" dirty="0" err="1"/>
              <a:t>your_view_name</a:t>
            </a:r>
            <a:r>
              <a:rPr lang="en-IN" dirty="0"/>
              <a:t>', compact('name', 'email'));</a:t>
            </a:r>
          </a:p>
          <a:p>
            <a:r>
              <a:rPr lang="en-IN" dirty="0"/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EDB1A4-246C-EFFC-EDE2-4381AAB9CDB7}"/>
              </a:ext>
            </a:extLst>
          </p:cNvPr>
          <p:cNvSpPr txBox="1"/>
          <p:nvPr/>
        </p:nvSpPr>
        <p:spPr>
          <a:xfrm>
            <a:off x="533400" y="846266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Using compact()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A26793-233E-1A7A-034E-5E1231D6AA27}"/>
              </a:ext>
            </a:extLst>
          </p:cNvPr>
          <p:cNvSpPr txBox="1"/>
          <p:nvPr/>
        </p:nvSpPr>
        <p:spPr>
          <a:xfrm>
            <a:off x="685800" y="4190256"/>
            <a:ext cx="5943600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dirty="0"/>
              <a:t>public function </a:t>
            </a:r>
            <a:r>
              <a:rPr lang="en-IN" dirty="0" err="1"/>
              <a:t>showUser</a:t>
            </a:r>
            <a:r>
              <a:rPr lang="en-IN" dirty="0"/>
              <a:t>()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    return view('</a:t>
            </a:r>
            <a:r>
              <a:rPr lang="en-IN" dirty="0" err="1"/>
              <a:t>your_view_name</a:t>
            </a:r>
            <a:r>
              <a:rPr lang="en-IN" dirty="0"/>
              <a:t>')</a:t>
            </a:r>
          </a:p>
          <a:p>
            <a:r>
              <a:rPr lang="en-IN" dirty="0"/>
              <a:t>            -&gt;with('name', 'Aziz')</a:t>
            </a:r>
          </a:p>
          <a:p>
            <a:r>
              <a:rPr lang="en-IN" dirty="0"/>
              <a:t>            -&gt;with('email', 'aziz@example.com');</a:t>
            </a:r>
          </a:p>
          <a:p>
            <a:r>
              <a:rPr lang="en-IN" dirty="0"/>
              <a:t>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34C5CE-0FCD-BEA0-F1B4-F4DE2C4B815B}"/>
              </a:ext>
            </a:extLst>
          </p:cNvPr>
          <p:cNvSpPr txBox="1"/>
          <p:nvPr/>
        </p:nvSpPr>
        <p:spPr>
          <a:xfrm>
            <a:off x="533400" y="3733800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Using with()</a:t>
            </a:r>
          </a:p>
        </p:txBody>
      </p:sp>
    </p:spTree>
    <p:extLst>
      <p:ext uri="{BB962C8B-B14F-4D97-AF65-F5344CB8AC3E}">
        <p14:creationId xmlns:p14="http://schemas.microsoft.com/office/powerpoint/2010/main" val="13192499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2FE50-67AD-C569-D6A8-30B0D0423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21;p9">
            <a:extLst>
              <a:ext uri="{FF2B5EF4-FFF2-40B4-BE49-F238E27FC236}">
                <a16:creationId xmlns:a16="http://schemas.microsoft.com/office/drawing/2014/main" id="{13DAB493-DE68-0FDF-D83D-166BCCD8F5A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178037" y="40605"/>
            <a:ext cx="1965963" cy="56899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D9AA3D9-C077-4ED8-A7F5-EA59CB87ABBC}"/>
              </a:ext>
            </a:extLst>
          </p:cNvPr>
          <p:cNvSpPr txBox="1"/>
          <p:nvPr/>
        </p:nvSpPr>
        <p:spPr>
          <a:xfrm>
            <a:off x="340360" y="1067752"/>
            <a:ext cx="8229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Blade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is Laravel's powerful, lightweight, and simple templating engine.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It allows you to write HTML mixed with dynamic content in a clean, readable syntax using special directives (e.g., @if, @foreach, @extends, etc.).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Blade files use the 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blade.php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extension and are stored in the resources/views/ directory.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50C471C-EC89-240B-00E2-DF8120E7B495}"/>
              </a:ext>
            </a:extLst>
          </p:cNvPr>
          <p:cNvSpPr txBox="1"/>
          <p:nvPr/>
        </p:nvSpPr>
        <p:spPr>
          <a:xfrm>
            <a:off x="365760" y="554654"/>
            <a:ext cx="4572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>
                <a:solidFill>
                  <a:srgbClr val="C00000"/>
                </a:solidFill>
              </a:rPr>
              <a:t>Blade Template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8B7C2657-FDE7-4A9C-3126-2194165BF0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8520116"/>
              </p:ext>
            </p:extLst>
          </p:nvPr>
        </p:nvGraphicFramePr>
        <p:xfrm>
          <a:off x="381000" y="2773680"/>
          <a:ext cx="8229600" cy="25603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895600">
                  <a:extLst>
                    <a:ext uri="{9D8B030D-6E8A-4147-A177-3AD203B41FA5}">
                      <a16:colId xmlns:a16="http://schemas.microsoft.com/office/drawing/2014/main" val="3021983449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13816963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b="1">
                          <a:solidFill>
                            <a:srgbClr val="C00000"/>
                          </a:solidFill>
                        </a:rPr>
                        <a:t>Benefit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rgbClr val="C00000"/>
                          </a:solidFill>
                        </a:rPr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7788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Clean Syntax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Easy-to-read directives like @if, @foreach.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90583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Code Reuse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Layout inheritance avoids duplication.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35419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Separation of Concerns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Keeps logic in controllers, display in views.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77209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Security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Auto-escaping for output ({{ }}) prevents XSS.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011713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Extensible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You can define your own custom directives.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2736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Performance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Compiled into plain PHP and cached for speed.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93201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14239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514DE-A257-B1C1-27AF-9A14090F4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21;p9">
            <a:extLst>
              <a:ext uri="{FF2B5EF4-FFF2-40B4-BE49-F238E27FC236}">
                <a16:creationId xmlns:a16="http://schemas.microsoft.com/office/drawing/2014/main" id="{1BE95274-376E-27E2-2868-B46BB746C42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178037" y="40605"/>
            <a:ext cx="1965963" cy="568995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4E1E2CF-1150-F3CB-BCE4-1B088A9E22D8}"/>
              </a:ext>
            </a:extLst>
          </p:cNvPr>
          <p:cNvSpPr txBox="1"/>
          <p:nvPr/>
        </p:nvSpPr>
        <p:spPr>
          <a:xfrm>
            <a:off x="304800" y="204113"/>
            <a:ext cx="4572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>
                <a:solidFill>
                  <a:srgbClr val="C00000"/>
                </a:solidFill>
              </a:rPr>
              <a:t>Key Concepts of Blade Template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CC33C2-605D-E345-51D5-33E8A1E74E2C}"/>
              </a:ext>
            </a:extLst>
          </p:cNvPr>
          <p:cNvSpPr txBox="1"/>
          <p:nvPr/>
        </p:nvSpPr>
        <p:spPr>
          <a:xfrm>
            <a:off x="304800" y="838200"/>
            <a:ext cx="81534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C00000"/>
                </a:solidFill>
              </a:rPr>
              <a:t>Template Inheritance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Allows you to define a </a:t>
            </a:r>
            <a:r>
              <a:rPr lang="en-US" b="1" dirty="0"/>
              <a:t>base layout</a:t>
            </a:r>
            <a:r>
              <a:rPr lang="en-US" dirty="0"/>
              <a:t> and extend it in other views.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CFC294-9E87-5AB7-87C2-7A6693CDE0C4}"/>
              </a:ext>
            </a:extLst>
          </p:cNvPr>
          <p:cNvSpPr txBox="1"/>
          <p:nvPr/>
        </p:nvSpPr>
        <p:spPr>
          <a:xfrm>
            <a:off x="685800" y="1515308"/>
            <a:ext cx="60198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// layouts/</a:t>
            </a:r>
            <a:r>
              <a:rPr lang="en-IN" sz="1400" dirty="0" err="1"/>
              <a:t>app.blade.php</a:t>
            </a:r>
            <a:endParaRPr lang="en-IN" sz="1400" dirty="0"/>
          </a:p>
          <a:p>
            <a:r>
              <a:rPr lang="en-IN" sz="1400" dirty="0"/>
              <a:t>&lt;html&gt;</a:t>
            </a:r>
          </a:p>
          <a:p>
            <a:r>
              <a:rPr lang="en-IN" sz="1400" dirty="0"/>
              <a:t>  &lt;body&gt;</a:t>
            </a:r>
          </a:p>
          <a:p>
            <a:r>
              <a:rPr lang="en-IN" sz="1400" dirty="0"/>
              <a:t>    @yield('content')</a:t>
            </a:r>
          </a:p>
          <a:p>
            <a:r>
              <a:rPr lang="en-IN" sz="1400" dirty="0"/>
              <a:t>  &lt;/body&gt;</a:t>
            </a:r>
          </a:p>
          <a:p>
            <a:r>
              <a:rPr lang="en-IN" sz="1400" dirty="0"/>
              <a:t>&lt;/html&gt;</a:t>
            </a:r>
          </a:p>
          <a:p>
            <a:endParaRPr lang="en-IN" sz="1400" dirty="0"/>
          </a:p>
          <a:p>
            <a:r>
              <a:rPr lang="en-IN" sz="1400" dirty="0"/>
              <a:t>// </a:t>
            </a:r>
            <a:r>
              <a:rPr lang="en-IN" sz="1400" dirty="0" err="1"/>
              <a:t>home.blade.php</a:t>
            </a:r>
            <a:endParaRPr lang="en-IN" sz="1400" dirty="0"/>
          </a:p>
          <a:p>
            <a:r>
              <a:rPr lang="en-IN" sz="1400" dirty="0"/>
              <a:t>@extends('layouts.app')</a:t>
            </a:r>
          </a:p>
          <a:p>
            <a:r>
              <a:rPr lang="en-IN" sz="1400" dirty="0"/>
              <a:t>@section('content')</a:t>
            </a:r>
          </a:p>
          <a:p>
            <a:r>
              <a:rPr lang="en-IN" sz="1400" dirty="0"/>
              <a:t>    &lt;p&gt;Welcome to Laravel!&lt;/p&gt;</a:t>
            </a:r>
          </a:p>
          <a:p>
            <a:r>
              <a:rPr lang="en-IN" sz="1400" dirty="0"/>
              <a:t>@endsection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4B88EE-6E9E-D240-4FB2-715664CA1995}"/>
              </a:ext>
            </a:extLst>
          </p:cNvPr>
          <p:cNvSpPr txBox="1"/>
          <p:nvPr/>
        </p:nvSpPr>
        <p:spPr>
          <a:xfrm>
            <a:off x="304800" y="4192964"/>
            <a:ext cx="86106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C00000"/>
                </a:solidFill>
              </a:rPr>
              <a:t>Displaying Data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 {{ $variable }} to safely echo content.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88A43B-9A86-5449-B6F5-4056789D846C}"/>
              </a:ext>
            </a:extLst>
          </p:cNvPr>
          <p:cNvSpPr txBox="1"/>
          <p:nvPr/>
        </p:nvSpPr>
        <p:spPr>
          <a:xfrm>
            <a:off x="680720" y="4914006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&lt;p&gt;Hello, {{ $name }}&lt;/p&gt;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17657E-9678-3437-07CE-DB63C4FBFC27}"/>
              </a:ext>
            </a:extLst>
          </p:cNvPr>
          <p:cNvSpPr txBox="1"/>
          <p:nvPr/>
        </p:nvSpPr>
        <p:spPr>
          <a:xfrm>
            <a:off x="304800" y="5486400"/>
            <a:ext cx="45720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solidFill>
                  <a:srgbClr val="C00000"/>
                </a:solidFill>
              </a:rPr>
              <a:t>Control Structures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Blade provides clean directives for logic.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85D1104-3E17-672B-D555-510684A21D79}"/>
              </a:ext>
            </a:extLst>
          </p:cNvPr>
          <p:cNvSpPr txBox="1"/>
          <p:nvPr/>
        </p:nvSpPr>
        <p:spPr>
          <a:xfrm>
            <a:off x="5105400" y="3657600"/>
            <a:ext cx="3581400" cy="313932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dirty="0"/>
              <a:t>@if($user-&gt;isAdmin())</a:t>
            </a:r>
          </a:p>
          <a:p>
            <a:r>
              <a:rPr lang="en-IN" dirty="0"/>
              <a:t>    &lt;p&gt;Welcome Admin&lt;/p&gt;</a:t>
            </a:r>
          </a:p>
          <a:p>
            <a:r>
              <a:rPr lang="en-IN" dirty="0"/>
              <a:t>@elseif($user)</a:t>
            </a:r>
          </a:p>
          <a:p>
            <a:r>
              <a:rPr lang="en-IN" dirty="0"/>
              <a:t>    &lt;p&gt;Hello, {{ $user-&gt;name }}&lt;/p&gt;</a:t>
            </a:r>
          </a:p>
          <a:p>
            <a:r>
              <a:rPr lang="en-IN" dirty="0"/>
              <a:t>@else</a:t>
            </a:r>
          </a:p>
          <a:p>
            <a:r>
              <a:rPr lang="en-IN" dirty="0"/>
              <a:t>    &lt;p&gt;Please log in&lt;/p&gt;</a:t>
            </a:r>
          </a:p>
          <a:p>
            <a:r>
              <a:rPr lang="en-IN" dirty="0"/>
              <a:t>@endif</a:t>
            </a:r>
          </a:p>
          <a:p>
            <a:endParaRPr lang="en-IN" dirty="0"/>
          </a:p>
          <a:p>
            <a:r>
              <a:rPr lang="en-IN" dirty="0"/>
              <a:t>@foreach($users as $user)</a:t>
            </a:r>
          </a:p>
          <a:p>
            <a:r>
              <a:rPr lang="en-IN" dirty="0"/>
              <a:t>    &lt;li&gt;{{ $user-&gt;name }}&lt;/li&gt;</a:t>
            </a:r>
          </a:p>
          <a:p>
            <a:r>
              <a:rPr lang="en-IN" dirty="0"/>
              <a:t>@endforeach</a:t>
            </a:r>
          </a:p>
        </p:txBody>
      </p:sp>
    </p:spTree>
    <p:extLst>
      <p:ext uri="{BB962C8B-B14F-4D97-AF65-F5344CB8AC3E}">
        <p14:creationId xmlns:p14="http://schemas.microsoft.com/office/powerpoint/2010/main" val="41813937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0A4F7B-E675-605F-9FC4-D889AC044946}"/>
              </a:ext>
            </a:extLst>
          </p:cNvPr>
          <p:cNvSpPr txBox="1"/>
          <p:nvPr/>
        </p:nvSpPr>
        <p:spPr>
          <a:xfrm>
            <a:off x="381000" y="381000"/>
            <a:ext cx="71628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C00000"/>
                </a:solidFill>
              </a:rPr>
              <a:t>Includes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Reuse small parts of a UI (header, footer, etc.)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4ACE00-48AD-5DBE-98CE-C8D1BB0EF1EC}"/>
              </a:ext>
            </a:extLst>
          </p:cNvPr>
          <p:cNvSpPr txBox="1"/>
          <p:nvPr/>
        </p:nvSpPr>
        <p:spPr>
          <a:xfrm>
            <a:off x="685800" y="109366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@include('partials.header')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B9DE2C-CB9A-F29C-6A2A-67655FD751EF}"/>
              </a:ext>
            </a:extLst>
          </p:cNvPr>
          <p:cNvSpPr txBox="1"/>
          <p:nvPr/>
        </p:nvSpPr>
        <p:spPr>
          <a:xfrm>
            <a:off x="391160" y="1676400"/>
            <a:ext cx="6400800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Components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Reusable UI blocks using &lt;x-component-name /&gt; syntax.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Blade components are stored in resources/views/components.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39BEDA-BDFD-4F1A-70D4-65322072EA74}"/>
              </a:ext>
            </a:extLst>
          </p:cNvPr>
          <p:cNvSpPr txBox="1"/>
          <p:nvPr/>
        </p:nvSpPr>
        <p:spPr>
          <a:xfrm>
            <a:off x="685800" y="273125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&lt;x-alert type="success" :message="$</a:t>
            </a:r>
            <a:r>
              <a:rPr lang="en-IN" dirty="0" err="1"/>
              <a:t>msg</a:t>
            </a:r>
            <a:r>
              <a:rPr lang="en-IN" dirty="0"/>
              <a:t>" /&gt;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A86780-5B40-4040-8C3B-887E4EA4EFEF}"/>
              </a:ext>
            </a:extLst>
          </p:cNvPr>
          <p:cNvSpPr txBox="1"/>
          <p:nvPr/>
        </p:nvSpPr>
        <p:spPr>
          <a:xfrm>
            <a:off x="381000" y="3295750"/>
            <a:ext cx="4572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Loops and Loop Variables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Blade gives $loop object inside loops.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31139E-E425-8A87-0BEF-50AA88529011}"/>
              </a:ext>
            </a:extLst>
          </p:cNvPr>
          <p:cNvSpPr txBox="1"/>
          <p:nvPr/>
        </p:nvSpPr>
        <p:spPr>
          <a:xfrm>
            <a:off x="533400" y="4130040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@foreach($users as $user)</a:t>
            </a:r>
          </a:p>
          <a:p>
            <a:r>
              <a:rPr lang="en-IN" dirty="0"/>
              <a:t>    {{ $loop-&gt;iteration }}. {{ $user-&gt;name }}</a:t>
            </a:r>
          </a:p>
          <a:p>
            <a:r>
              <a:rPr lang="en-IN" dirty="0"/>
              <a:t>@endforeach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8A57699-083D-C6A5-6189-71D33C6C9813}"/>
              </a:ext>
            </a:extLst>
          </p:cNvPr>
          <p:cNvSpPr txBox="1"/>
          <p:nvPr/>
        </p:nvSpPr>
        <p:spPr>
          <a:xfrm>
            <a:off x="411480" y="5309791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C00000"/>
                </a:solidFill>
              </a:rPr>
              <a:t>Comments in Blade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2F1BC0D-2134-4967-1166-8CB6828B1DE4}"/>
              </a:ext>
            </a:extLst>
          </p:cNvPr>
          <p:cNvSpPr txBox="1"/>
          <p:nvPr/>
        </p:nvSpPr>
        <p:spPr>
          <a:xfrm>
            <a:off x="533400" y="586226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{{-- This is a Blade comment --}}</a:t>
            </a:r>
          </a:p>
        </p:txBody>
      </p:sp>
    </p:spTree>
    <p:extLst>
      <p:ext uri="{BB962C8B-B14F-4D97-AF65-F5344CB8AC3E}">
        <p14:creationId xmlns:p14="http://schemas.microsoft.com/office/powerpoint/2010/main" val="16034468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762000"/>
            <a:ext cx="8001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Wingdings" pitchFamily="2" charset="2"/>
              <a:buChar char="q"/>
            </a:pPr>
            <a:r>
              <a:rPr lang="en-US" dirty="0"/>
              <a:t>Command line interface for Laravel.</a:t>
            </a:r>
          </a:p>
          <a:p>
            <a:pPr algn="just">
              <a:buFont typeface="Wingdings" pitchFamily="2" charset="2"/>
              <a:buChar char="q"/>
            </a:pPr>
            <a:r>
              <a:rPr lang="en-US" dirty="0"/>
              <a:t>It provides a number of helpful commands for your use while developing your application. </a:t>
            </a:r>
          </a:p>
          <a:p>
            <a:pPr algn="just">
              <a:buFont typeface="Wingdings" pitchFamily="2" charset="2"/>
              <a:buChar char="q"/>
            </a:pPr>
            <a:r>
              <a:rPr lang="en-US" dirty="0"/>
              <a:t>Its like REPL in Node JS.</a:t>
            </a:r>
          </a:p>
          <a:p>
            <a:pPr algn="just"/>
            <a:endParaRPr lang="en-US" dirty="0"/>
          </a:p>
          <a:p>
            <a:pPr algn="just"/>
            <a:r>
              <a:rPr lang="en-US" b="1" dirty="0">
                <a:solidFill>
                  <a:srgbClr val="C00000"/>
                </a:solidFill>
              </a:rPr>
              <a:t>Listing All Available Commands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To view a list of all </a:t>
            </a:r>
            <a:r>
              <a:rPr lang="en-US" b="1" dirty="0"/>
              <a:t>available Artisan commands,</a:t>
            </a:r>
            <a:r>
              <a:rPr lang="en-US" dirty="0"/>
              <a:t> you may </a:t>
            </a:r>
            <a:r>
              <a:rPr lang="en-US" b="1" dirty="0"/>
              <a:t>use the list command</a:t>
            </a:r>
            <a:r>
              <a:rPr lang="en-US" dirty="0"/>
              <a:t>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725" y="228600"/>
            <a:ext cx="12570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Artisan</a:t>
            </a:r>
          </a:p>
        </p:txBody>
      </p:sp>
      <p:sp>
        <p:nvSpPr>
          <p:cNvPr id="5" name="Rectangle 4"/>
          <p:cNvSpPr/>
          <p:nvPr/>
        </p:nvSpPr>
        <p:spPr>
          <a:xfrm>
            <a:off x="1295400" y="3028890"/>
            <a:ext cx="18200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/>
              <a:t> php artisan list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4107358"/>
            <a:ext cx="279281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/>
              <a:t>php artisan help migrate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4640758"/>
            <a:ext cx="7848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Displaying Your Current Laravel Version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5162490"/>
            <a:ext cx="238488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/>
              <a:t>php artisan --version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6229290"/>
            <a:ext cx="202478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/>
              <a:t>php artisan serve</a:t>
            </a:r>
            <a:endParaRPr lang="en-US" sz="2000" dirty="0"/>
          </a:p>
        </p:txBody>
      </p:sp>
      <p:sp>
        <p:nvSpPr>
          <p:cNvPr id="12" name="Rectangle 11"/>
          <p:cNvSpPr/>
          <p:nvPr/>
        </p:nvSpPr>
        <p:spPr>
          <a:xfrm>
            <a:off x="609600" y="5783758"/>
            <a:ext cx="23571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To start Laravel project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600" y="3573958"/>
            <a:ext cx="41295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Viewing The Help Screen For A Command</a:t>
            </a:r>
          </a:p>
        </p:txBody>
      </p:sp>
      <p:pic>
        <p:nvPicPr>
          <p:cNvPr id="4" name="Google Shape;21;p9">
            <a:extLst>
              <a:ext uri="{FF2B5EF4-FFF2-40B4-BE49-F238E27FC236}">
                <a16:creationId xmlns:a16="http://schemas.microsoft.com/office/drawing/2014/main" id="{31F76DEF-CC77-5FC4-1A23-D791009D8B7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178037" y="40605"/>
            <a:ext cx="1965963" cy="568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914400"/>
            <a:ext cx="7148513" cy="548351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62000" y="304800"/>
            <a:ext cx="6705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PHP Artisan Commands</a:t>
            </a:r>
          </a:p>
        </p:txBody>
      </p:sp>
      <p:pic>
        <p:nvPicPr>
          <p:cNvPr id="2" name="Google Shape;21;p9">
            <a:extLst>
              <a:ext uri="{FF2B5EF4-FFF2-40B4-BE49-F238E27FC236}">
                <a16:creationId xmlns:a16="http://schemas.microsoft.com/office/drawing/2014/main" id="{67A2BFBD-B727-CC70-63D6-8A2C6259F20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78037" y="40605"/>
            <a:ext cx="1965963" cy="568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1219200"/>
            <a:ext cx="8001000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Wingdings" pitchFamily="2" charset="2"/>
              <a:buChar char="q"/>
            </a:pPr>
            <a:r>
              <a:rPr lang="en-US" sz="2000" dirty="0"/>
              <a:t>Composer is a dependency manager for a PHP programming language that manages the dependencies of PHP software and required libraries. </a:t>
            </a:r>
          </a:p>
          <a:p>
            <a:pPr algn="just">
              <a:buFont typeface="Wingdings" pitchFamily="2" charset="2"/>
              <a:buChar char="q"/>
            </a:pPr>
            <a:r>
              <a:rPr lang="en-US" sz="2000" dirty="0"/>
              <a:t>In Laravel, the composer is a tool that includes all the dependencies and libraries.</a:t>
            </a:r>
          </a:p>
          <a:p>
            <a:pPr algn="just">
              <a:buFont typeface="Wingdings" pitchFamily="2" charset="2"/>
              <a:buChar char="q"/>
            </a:pPr>
            <a:r>
              <a:rPr lang="en-US" sz="2000" dirty="0"/>
              <a:t>Third-party libraries can be installed easily using composer.</a:t>
            </a:r>
          </a:p>
          <a:p>
            <a:pPr algn="just">
              <a:buFont typeface="Wingdings" pitchFamily="2" charset="2"/>
              <a:buChar char="q"/>
            </a:pPr>
            <a:r>
              <a:rPr lang="en-US" sz="2000" dirty="0"/>
              <a:t>It helps us to  manage libraries/packages required for our projects.</a:t>
            </a:r>
          </a:p>
          <a:p>
            <a:pPr algn="just">
              <a:buFont typeface="Wingdings" pitchFamily="2" charset="2"/>
              <a:buChar char="q"/>
            </a:pPr>
            <a:r>
              <a:rPr lang="en-US" sz="2000" dirty="0"/>
              <a:t>Composer is used to managing its dependencies and the dependencies are noted in </a:t>
            </a:r>
            <a:r>
              <a:rPr lang="en-US" sz="2000" b="1" dirty="0">
                <a:solidFill>
                  <a:srgbClr val="C00000"/>
                </a:solidFill>
              </a:rPr>
              <a:t>composer.json</a:t>
            </a:r>
            <a:r>
              <a:rPr lang="en-US" sz="2000" dirty="0"/>
              <a:t> file which is placed in the source folder.</a:t>
            </a:r>
          </a:p>
          <a:p>
            <a:pPr algn="just">
              <a:buFont typeface="Wingdings" pitchFamily="2" charset="2"/>
              <a:buChar char="q"/>
            </a:pPr>
            <a:r>
              <a:rPr lang="en-US" sz="2000" dirty="0"/>
              <a:t>Composer runs through the </a:t>
            </a:r>
            <a:r>
              <a:rPr lang="en-US" sz="2000" b="1" dirty="0"/>
              <a:t>command line</a:t>
            </a:r>
            <a:r>
              <a:rPr lang="en-US" sz="2000" dirty="0"/>
              <a:t>. </a:t>
            </a:r>
          </a:p>
          <a:p>
            <a:pPr algn="just">
              <a:buFont typeface="Wingdings" pitchFamily="2" charset="2"/>
              <a:buChar char="q"/>
            </a:pPr>
            <a:r>
              <a:rPr lang="en-US" sz="2000" dirty="0"/>
              <a:t>The main purpose of the composer is to install the </a:t>
            </a:r>
            <a:r>
              <a:rPr lang="en-US" sz="2000" b="1" dirty="0"/>
              <a:t>dependencies</a:t>
            </a:r>
            <a:r>
              <a:rPr lang="en-US" sz="2000" dirty="0"/>
              <a:t> or </a:t>
            </a:r>
            <a:r>
              <a:rPr lang="en-US" sz="2000" b="1" dirty="0"/>
              <a:t>libraries</a:t>
            </a:r>
            <a:r>
              <a:rPr lang="en-US" sz="2000" dirty="0"/>
              <a:t> for an application. </a:t>
            </a:r>
          </a:p>
        </p:txBody>
      </p:sp>
      <p:sp>
        <p:nvSpPr>
          <p:cNvPr id="3" name="Rectangle 2"/>
          <p:cNvSpPr/>
          <p:nvPr/>
        </p:nvSpPr>
        <p:spPr>
          <a:xfrm>
            <a:off x="533400" y="457200"/>
            <a:ext cx="169629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Composer</a:t>
            </a:r>
            <a:endParaRPr lang="en-US" sz="2800" dirty="0"/>
          </a:p>
        </p:txBody>
      </p:sp>
      <p:sp>
        <p:nvSpPr>
          <p:cNvPr id="4" name="Rectangle 3"/>
          <p:cNvSpPr/>
          <p:nvPr/>
        </p:nvSpPr>
        <p:spPr>
          <a:xfrm>
            <a:off x="685800" y="4953000"/>
            <a:ext cx="445513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US" sz="2200" b="1" dirty="0">
                <a:solidFill>
                  <a:srgbClr val="C00000"/>
                </a:solidFill>
              </a:rPr>
              <a:t>Add packages to your </a:t>
            </a:r>
            <a:r>
              <a:rPr lang="en-US" sz="2200" b="1" dirty="0"/>
              <a:t>composer.json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5562600"/>
            <a:ext cx="390062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composer require </a:t>
            </a:r>
            <a:r>
              <a:rPr lang="en-US" sz="2000" b="1" dirty="0"/>
              <a:t>firebase/php-</a:t>
            </a:r>
            <a:r>
              <a:rPr lang="en-US" sz="2000" b="1" dirty="0" err="1"/>
              <a:t>jwt</a:t>
            </a:r>
            <a:endParaRPr lang="en-US" sz="2000" b="1" dirty="0"/>
          </a:p>
        </p:txBody>
      </p:sp>
      <p:sp>
        <p:nvSpPr>
          <p:cNvPr id="6" name="Rectangle 5"/>
          <p:cNvSpPr/>
          <p:nvPr/>
        </p:nvSpPr>
        <p:spPr>
          <a:xfrm>
            <a:off x="762000" y="6172200"/>
            <a:ext cx="50387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Here , firebase/php-</a:t>
            </a:r>
            <a:r>
              <a:rPr lang="en-US" dirty="0" err="1"/>
              <a:t>jwt</a:t>
            </a:r>
            <a:r>
              <a:rPr lang="en-US" dirty="0"/>
              <a:t> is the name of the Package</a:t>
            </a:r>
          </a:p>
        </p:txBody>
      </p:sp>
      <p:pic>
        <p:nvPicPr>
          <p:cNvPr id="7" name="Google Shape;21;p9">
            <a:extLst>
              <a:ext uri="{FF2B5EF4-FFF2-40B4-BE49-F238E27FC236}">
                <a16:creationId xmlns:a16="http://schemas.microsoft.com/office/drawing/2014/main" id="{3B6D49CF-135C-ACD9-67CE-5F7C35CEFC4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178037" y="40605"/>
            <a:ext cx="1965963" cy="568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971490"/>
            <a:ext cx="8001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Wingdings" pitchFamily="2" charset="2"/>
              <a:buChar char="q"/>
            </a:pPr>
            <a:r>
              <a:rPr lang="en-US" dirty="0"/>
              <a:t>Use the following command to remove the package from vendor. </a:t>
            </a:r>
          </a:p>
          <a:p>
            <a:pPr algn="just">
              <a:buFont typeface="Wingdings" pitchFamily="2" charset="2"/>
              <a:buChar char="q"/>
            </a:pPr>
            <a:r>
              <a:rPr lang="en-US" dirty="0"/>
              <a:t>This will also update </a:t>
            </a:r>
            <a:r>
              <a:rPr lang="en-US" b="1" dirty="0"/>
              <a:t>composer.json</a:t>
            </a:r>
            <a:r>
              <a:rPr lang="en-US" dirty="0"/>
              <a:t> and </a:t>
            </a:r>
            <a:r>
              <a:rPr lang="en-US" b="1" dirty="0"/>
              <a:t>composer.lock</a:t>
            </a:r>
            <a:r>
              <a:rPr lang="en-US" dirty="0"/>
              <a:t> accordingly.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361890"/>
            <a:ext cx="46269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US" sz="2000" b="1" dirty="0">
                <a:solidFill>
                  <a:srgbClr val="C00000"/>
                </a:solidFill>
              </a:rPr>
              <a:t>Remove Package from Laravel Application</a:t>
            </a:r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838200" y="1885890"/>
            <a:ext cx="72390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-53958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inherit"/>
                <a:cs typeface="Arial" pitchFamily="34" charset="0"/>
              </a:rPr>
              <a:t>Syntax :     </a:t>
            </a:r>
            <a:r>
              <a:rPr kumimoji="0" lang="en-US" b="1" i="0" u="none" strike="noStrike" cap="none" normalizeH="0" baseline="0" dirty="0">
                <a:ln>
                  <a:noFill/>
                </a:ln>
                <a:effectLst/>
                <a:latin typeface="inherit"/>
                <a:cs typeface="Arial" pitchFamily="34" charset="0"/>
              </a:rPr>
              <a:t>composer remove vendor/package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>
              <a:solidFill>
                <a:srgbClr val="C00000"/>
              </a:solidFill>
              <a:latin typeface="inherit"/>
              <a:cs typeface="Arial" pitchFamily="34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Example :  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composer remove firebase/php-</a:t>
            </a:r>
            <a:r>
              <a:rPr lang="en-US" b="1" dirty="0" err="1">
                <a:latin typeface="Arial" pitchFamily="34" charset="0"/>
                <a:cs typeface="Arial" pitchFamily="34" charset="0"/>
              </a:rPr>
              <a:t>jwt</a:t>
            </a:r>
            <a:endParaRPr kumimoji="0" lang="en-US" b="1" i="0" u="none" strike="noStrike" cap="none" normalizeH="0" baseline="0" dirty="0">
              <a:ln>
                <a:noFill/>
              </a:ln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762000" y="289560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-53958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rgbClr val="FDFCFC"/>
                </a:solidFill>
                <a:effectLst/>
                <a:latin typeface="inherit"/>
                <a:cs typeface="Arial" pitchFamily="34" charset="0"/>
              </a:rPr>
              <a:t>composer remove vendor/package 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33400" y="3409890"/>
            <a:ext cx="218316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US" sz="2000" b="1" dirty="0">
                <a:solidFill>
                  <a:srgbClr val="C00000"/>
                </a:solidFill>
              </a:rPr>
              <a:t>Updating Packages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095690"/>
            <a:ext cx="402738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composer update monolog/monolog</a:t>
            </a:r>
          </a:p>
        </p:txBody>
      </p:sp>
      <p:pic>
        <p:nvPicPr>
          <p:cNvPr id="8" name="Picture 7" descr="composer.JPG"/>
          <p:cNvPicPr>
            <a:picLocks noChangeAspect="1"/>
          </p:cNvPicPr>
          <p:nvPr/>
        </p:nvPicPr>
        <p:blipFill>
          <a:blip r:embed="rId2">
            <a:lum bright="-33000" contrast="53000"/>
          </a:blip>
          <a:stretch>
            <a:fillRect/>
          </a:stretch>
        </p:blipFill>
        <p:spPr>
          <a:xfrm>
            <a:off x="4655510" y="3352800"/>
            <a:ext cx="4336090" cy="3429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9" name="TextBox 8"/>
          <p:cNvSpPr txBox="1"/>
          <p:nvPr/>
        </p:nvSpPr>
        <p:spPr>
          <a:xfrm>
            <a:off x="7315200" y="2895600"/>
            <a:ext cx="1643976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b="1" dirty="0"/>
              <a:t>Composer.json</a:t>
            </a:r>
            <a:r>
              <a:rPr lang="en-US" dirty="0"/>
              <a:t> </a:t>
            </a:r>
          </a:p>
        </p:txBody>
      </p:sp>
      <p:pic>
        <p:nvPicPr>
          <p:cNvPr id="4" name="Google Shape;21;p9">
            <a:extLst>
              <a:ext uri="{FF2B5EF4-FFF2-40B4-BE49-F238E27FC236}">
                <a16:creationId xmlns:a16="http://schemas.microsoft.com/office/drawing/2014/main" id="{79C375A1-047F-CE01-D9BB-D4EB090364F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78037" y="40605"/>
            <a:ext cx="1965963" cy="568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E845A49-506F-54CC-E1C2-263834CE1966}"/>
              </a:ext>
            </a:extLst>
          </p:cNvPr>
          <p:cNvSpPr txBox="1"/>
          <p:nvPr/>
        </p:nvSpPr>
        <p:spPr>
          <a:xfrm>
            <a:off x="457200" y="1228397"/>
            <a:ext cx="82296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Create your HTML form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 a Blade template, ensuring you have the correct method, action (using named routes), and the @csrf directive.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Define a route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 your routing files 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web.php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or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api.php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that matches the form's action and HTTP method.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Create a controller method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handle the incoming request.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Access the submitted data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using the $request object.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Implement robust validation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using $request-&gt;validate() to ensure data integrity.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Display validation errors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 your Blade template using the $errors object and the @error directive.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Process the valid data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and perform necessary actions (e.g., database operations, sending emails).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Optionally redirect the user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after successful processing, often with a success message using session flashing.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F67931-F00D-528C-68B8-293B76F69BD9}"/>
              </a:ext>
            </a:extLst>
          </p:cNvPr>
          <p:cNvSpPr txBox="1"/>
          <p:nvPr/>
        </p:nvSpPr>
        <p:spPr>
          <a:xfrm>
            <a:off x="457200" y="533400"/>
            <a:ext cx="36772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Forms Handling in LARAVEL</a:t>
            </a:r>
            <a:endParaRPr lang="en-IN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93951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C1BC67D-0439-1A69-3DA0-BBA9A28E12B6}"/>
              </a:ext>
            </a:extLst>
          </p:cNvPr>
          <p:cNvSpPr txBox="1"/>
          <p:nvPr/>
        </p:nvSpPr>
        <p:spPr>
          <a:xfrm>
            <a:off x="228600" y="240268"/>
            <a:ext cx="58752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Create Form View </a:t>
            </a:r>
            <a:r>
              <a:rPr lang="en-US" b="1" dirty="0">
                <a:solidFill>
                  <a:srgbClr val="C00000"/>
                </a:solidFill>
              </a:rPr>
              <a:t>(</a:t>
            </a:r>
            <a:r>
              <a:rPr lang="en-IN" sz="1800" dirty="0"/>
              <a:t>resources/views/user-form.blade.php) 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7A20C0-489B-BF44-50C4-EB74482C992F}"/>
              </a:ext>
            </a:extLst>
          </p:cNvPr>
          <p:cNvSpPr txBox="1"/>
          <p:nvPr/>
        </p:nvSpPr>
        <p:spPr>
          <a:xfrm>
            <a:off x="304800" y="703957"/>
            <a:ext cx="7391400" cy="60016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600" dirty="0"/>
              <a:t>&lt;html&gt;</a:t>
            </a:r>
          </a:p>
          <a:p>
            <a:r>
              <a:rPr lang="en-IN" sz="1600" dirty="0"/>
              <a:t>&lt;body&gt;</a:t>
            </a:r>
          </a:p>
          <a:p>
            <a:r>
              <a:rPr lang="en-IN" sz="1600" dirty="0"/>
              <a:t>    &lt;h2&gt;User Form&lt;/h2&gt;</a:t>
            </a:r>
          </a:p>
          <a:p>
            <a:endParaRPr lang="en-IN" sz="1600" dirty="0"/>
          </a:p>
          <a:p>
            <a:r>
              <a:rPr lang="en-IN" sz="1600" dirty="0"/>
              <a:t>    @if(session('success'))</a:t>
            </a:r>
          </a:p>
          <a:p>
            <a:r>
              <a:rPr lang="en-IN" sz="1600" dirty="0"/>
              <a:t>        &lt;p style="color: green"&gt;{{ session('success') }}&lt;/p&gt;</a:t>
            </a:r>
          </a:p>
          <a:p>
            <a:r>
              <a:rPr lang="en-IN" sz="1600" dirty="0"/>
              <a:t>    @endif</a:t>
            </a:r>
          </a:p>
          <a:p>
            <a:endParaRPr lang="en-IN" sz="1600" dirty="0"/>
          </a:p>
          <a:p>
            <a:r>
              <a:rPr lang="en-IN" sz="1600" dirty="0"/>
              <a:t>    @if ($errors-&gt;any())</a:t>
            </a:r>
          </a:p>
          <a:p>
            <a:r>
              <a:rPr lang="en-IN" sz="1600" dirty="0"/>
              <a:t>        &lt;ul style="color: red"&gt;</a:t>
            </a:r>
          </a:p>
          <a:p>
            <a:r>
              <a:rPr lang="en-IN" sz="1600" dirty="0"/>
              <a:t>            @foreach ($errors-&gt;all() as $error)</a:t>
            </a:r>
          </a:p>
          <a:p>
            <a:r>
              <a:rPr lang="en-IN" sz="1600" dirty="0"/>
              <a:t>                &lt;li&gt;{{ $error }}&lt;/li&gt;</a:t>
            </a:r>
          </a:p>
          <a:p>
            <a:r>
              <a:rPr lang="en-IN" sz="1600" dirty="0"/>
              <a:t>            @endforeach</a:t>
            </a:r>
          </a:p>
          <a:p>
            <a:r>
              <a:rPr lang="en-IN" sz="1600" dirty="0"/>
              <a:t>        &lt;/ul&gt;</a:t>
            </a:r>
          </a:p>
          <a:p>
            <a:r>
              <a:rPr lang="en-IN" sz="1600" dirty="0"/>
              <a:t>    @endif</a:t>
            </a:r>
          </a:p>
          <a:p>
            <a:endParaRPr lang="en-IN" sz="1600" dirty="0"/>
          </a:p>
          <a:p>
            <a:r>
              <a:rPr lang="en-IN" sz="1600" dirty="0"/>
              <a:t>    &lt;form method="POST" action="{{ route('</a:t>
            </a:r>
            <a:r>
              <a:rPr lang="en-IN" sz="1600" dirty="0" err="1"/>
              <a:t>user.submit</a:t>
            </a:r>
            <a:r>
              <a:rPr lang="en-IN" sz="1600" dirty="0"/>
              <a:t>') }}"&gt;</a:t>
            </a:r>
          </a:p>
          <a:p>
            <a:r>
              <a:rPr lang="en-IN" sz="1600" dirty="0"/>
              <a:t>        @csrf</a:t>
            </a:r>
          </a:p>
          <a:p>
            <a:r>
              <a:rPr lang="en-IN" sz="1600" dirty="0"/>
              <a:t>        &lt;label&gt;Name:&lt;/label&gt;&lt;</a:t>
            </a:r>
            <a:r>
              <a:rPr lang="en-IN" sz="1600" dirty="0" err="1"/>
              <a:t>br</a:t>
            </a:r>
            <a:r>
              <a:rPr lang="en-IN" sz="1600" dirty="0"/>
              <a:t>&gt;&lt;input type="text" name="name"&gt;&lt;</a:t>
            </a:r>
            <a:r>
              <a:rPr lang="en-IN" sz="1600" dirty="0" err="1"/>
              <a:t>br</a:t>
            </a:r>
            <a:r>
              <a:rPr lang="en-IN" sz="1600" dirty="0"/>
              <a:t>&gt;&lt;</a:t>
            </a:r>
            <a:r>
              <a:rPr lang="en-IN" sz="1600" dirty="0" err="1"/>
              <a:t>br</a:t>
            </a:r>
            <a:r>
              <a:rPr lang="en-IN" sz="1600" dirty="0"/>
              <a:t>&gt; </a:t>
            </a:r>
          </a:p>
          <a:p>
            <a:r>
              <a:rPr lang="en-IN" sz="1600" dirty="0"/>
              <a:t>       &lt;label&gt;Email:&lt;/label&gt;&lt;</a:t>
            </a:r>
            <a:r>
              <a:rPr lang="en-IN" sz="1600" dirty="0" err="1"/>
              <a:t>br</a:t>
            </a:r>
            <a:r>
              <a:rPr lang="en-IN" sz="1600" dirty="0"/>
              <a:t>&gt;&lt;input type="email" name="email"&gt;&lt;</a:t>
            </a:r>
            <a:r>
              <a:rPr lang="en-IN" sz="1600" dirty="0" err="1"/>
              <a:t>br</a:t>
            </a:r>
            <a:r>
              <a:rPr lang="en-IN" sz="1600" dirty="0"/>
              <a:t>&gt;&lt;</a:t>
            </a:r>
            <a:r>
              <a:rPr lang="en-IN" sz="1600" dirty="0" err="1"/>
              <a:t>br</a:t>
            </a:r>
            <a:r>
              <a:rPr lang="en-IN" sz="1600" dirty="0"/>
              <a:t>&gt;</a:t>
            </a:r>
          </a:p>
          <a:p>
            <a:r>
              <a:rPr lang="en-IN" sz="1600" dirty="0"/>
              <a:t>        &lt;button type="submit"&gt;Submit&lt;/button&gt;</a:t>
            </a:r>
          </a:p>
          <a:p>
            <a:r>
              <a:rPr lang="en-IN" sz="1600" dirty="0"/>
              <a:t>    &lt;/form&gt;</a:t>
            </a:r>
          </a:p>
          <a:p>
            <a:r>
              <a:rPr lang="en-IN" sz="1600" dirty="0"/>
              <a:t>&lt;/body&gt;</a:t>
            </a:r>
          </a:p>
          <a:p>
            <a:r>
              <a:rPr lang="en-IN" sz="1600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38286683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E74519-CA0F-4AEF-AAFC-8DA8A87843F3}"/>
              </a:ext>
            </a:extLst>
          </p:cNvPr>
          <p:cNvSpPr txBox="1"/>
          <p:nvPr/>
        </p:nvSpPr>
        <p:spPr>
          <a:xfrm>
            <a:off x="304800" y="720090"/>
            <a:ext cx="8534400" cy="59093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dirty="0"/>
              <a:t>namespace App\Http\Controllers;</a:t>
            </a:r>
          </a:p>
          <a:p>
            <a:endParaRPr lang="en-IN" dirty="0"/>
          </a:p>
          <a:p>
            <a:r>
              <a:rPr lang="en-IN" dirty="0"/>
              <a:t>use Illuminate\Http\Request;</a:t>
            </a:r>
          </a:p>
          <a:p>
            <a:endParaRPr lang="en-IN" dirty="0"/>
          </a:p>
          <a:p>
            <a:r>
              <a:rPr lang="en-IN" dirty="0"/>
              <a:t>class </a:t>
            </a:r>
            <a:r>
              <a:rPr lang="en-IN" dirty="0" err="1"/>
              <a:t>UserController</a:t>
            </a:r>
            <a:r>
              <a:rPr lang="en-IN" dirty="0"/>
              <a:t> extends Controller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    public function create()</a:t>
            </a:r>
          </a:p>
          <a:p>
            <a:r>
              <a:rPr lang="en-IN" dirty="0"/>
              <a:t>    {</a:t>
            </a:r>
          </a:p>
          <a:p>
            <a:r>
              <a:rPr lang="en-IN" dirty="0"/>
              <a:t>        return view('user-form');</a:t>
            </a:r>
          </a:p>
          <a:p>
            <a:r>
              <a:rPr lang="en-IN" dirty="0"/>
              <a:t>    }</a:t>
            </a:r>
          </a:p>
          <a:p>
            <a:endParaRPr lang="en-IN" dirty="0"/>
          </a:p>
          <a:p>
            <a:r>
              <a:rPr lang="en-IN" dirty="0"/>
              <a:t>    public function store(Request $request)</a:t>
            </a:r>
          </a:p>
          <a:p>
            <a:r>
              <a:rPr lang="en-IN" dirty="0"/>
              <a:t>    {</a:t>
            </a:r>
          </a:p>
          <a:p>
            <a:r>
              <a:rPr lang="en-IN" dirty="0"/>
              <a:t>        // Simple validation</a:t>
            </a:r>
          </a:p>
          <a:p>
            <a:r>
              <a:rPr lang="en-IN" dirty="0"/>
              <a:t>        $request-&gt;validate([</a:t>
            </a:r>
          </a:p>
          <a:p>
            <a:r>
              <a:rPr lang="en-IN" dirty="0"/>
              <a:t>            'name' =&gt; '</a:t>
            </a:r>
            <a:r>
              <a:rPr lang="en-IN" dirty="0" err="1"/>
              <a:t>required|string</a:t>
            </a:r>
            <a:r>
              <a:rPr lang="en-IN" dirty="0"/>
              <a:t>',</a:t>
            </a:r>
          </a:p>
          <a:p>
            <a:r>
              <a:rPr lang="en-IN" dirty="0"/>
              <a:t>            'email' =&gt; '</a:t>
            </a:r>
            <a:r>
              <a:rPr lang="en-IN" dirty="0" err="1"/>
              <a:t>required|email</a:t>
            </a:r>
            <a:r>
              <a:rPr lang="en-IN" dirty="0"/>
              <a:t>'</a:t>
            </a:r>
          </a:p>
          <a:p>
            <a:r>
              <a:rPr lang="en-IN" dirty="0"/>
              <a:t>        ]);</a:t>
            </a:r>
          </a:p>
          <a:p>
            <a:r>
              <a:rPr lang="en-IN" dirty="0"/>
              <a:t>	return redirect('/user-form')-&gt;with('success', 'Form submitted successfully!');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4F17473-923A-85F9-0C6F-09AFFF1357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811" y="228600"/>
            <a:ext cx="80772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Create Controller  </a:t>
            </a:r>
            <a:r>
              <a:rPr lang="en-US" b="1" dirty="0">
                <a:solidFill>
                  <a:srgbClr val="C00000"/>
                </a:solidFill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app/Http/Controllers/UserController.php</a:t>
            </a:r>
            <a:r>
              <a:rPr lang="en-US" b="1" dirty="0">
                <a:solidFill>
                  <a:srgbClr val="C00000"/>
                </a:solidFill>
              </a:rPr>
              <a:t>)</a:t>
            </a:r>
            <a:r>
              <a:rPr lang="en-IN" dirty="0"/>
              <a:t> </a:t>
            </a:r>
            <a:endParaRPr lang="en-IN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2770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57997-DB05-54F3-F831-2077C3439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964E0F0-B72F-E7CD-34F9-7534DBDFA765}"/>
              </a:ext>
            </a:extLst>
          </p:cNvPr>
          <p:cNvSpPr txBox="1"/>
          <p:nvPr/>
        </p:nvSpPr>
        <p:spPr>
          <a:xfrm>
            <a:off x="381000" y="914400"/>
            <a:ext cx="8305800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dirty="0"/>
              <a:t>use Illuminate\Support\Facades\Route;</a:t>
            </a:r>
          </a:p>
          <a:p>
            <a:r>
              <a:rPr lang="en-IN" dirty="0"/>
              <a:t>use App\Http\Controllers\</a:t>
            </a:r>
            <a:r>
              <a:rPr lang="en-IN" dirty="0" err="1"/>
              <a:t>UserController</a:t>
            </a:r>
            <a:r>
              <a:rPr lang="en-IN" dirty="0"/>
              <a:t>;</a:t>
            </a:r>
          </a:p>
          <a:p>
            <a:endParaRPr lang="en-IN" dirty="0"/>
          </a:p>
          <a:p>
            <a:r>
              <a:rPr lang="en-IN" dirty="0"/>
              <a:t>Route::get('/user-form', [</a:t>
            </a:r>
            <a:r>
              <a:rPr lang="en-IN" dirty="0" err="1"/>
              <a:t>UserController</a:t>
            </a:r>
            <a:r>
              <a:rPr lang="en-IN" dirty="0"/>
              <a:t>::class, 'create']);</a:t>
            </a:r>
          </a:p>
          <a:p>
            <a:r>
              <a:rPr lang="en-IN" dirty="0"/>
              <a:t>Route::post('/user-submit', [</a:t>
            </a:r>
            <a:r>
              <a:rPr lang="en-IN" dirty="0" err="1"/>
              <a:t>UserController</a:t>
            </a:r>
            <a:r>
              <a:rPr lang="en-IN" dirty="0"/>
              <a:t>::class, 'store'])-&gt;name('</a:t>
            </a:r>
            <a:r>
              <a:rPr lang="en-IN" dirty="0" err="1"/>
              <a:t>user.submit</a:t>
            </a:r>
            <a:r>
              <a:rPr lang="en-IN" dirty="0"/>
              <a:t>');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F06904-9E9F-EBC3-8DE3-B4D8BCA776CD}"/>
              </a:ext>
            </a:extLst>
          </p:cNvPr>
          <p:cNvSpPr txBox="1"/>
          <p:nvPr/>
        </p:nvSpPr>
        <p:spPr>
          <a:xfrm>
            <a:off x="381000" y="304800"/>
            <a:ext cx="716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Create Routes </a:t>
            </a:r>
            <a:r>
              <a:rPr lang="en-US" b="1" dirty="0">
                <a:solidFill>
                  <a:srgbClr val="C00000"/>
                </a:solidFill>
              </a:rPr>
              <a:t>(</a:t>
            </a:r>
            <a:r>
              <a:rPr lang="en-IN" dirty="0"/>
              <a:t>routes/</a:t>
            </a:r>
            <a:r>
              <a:rPr lang="en-IN" dirty="0" err="1"/>
              <a:t>web.php</a:t>
            </a:r>
            <a:r>
              <a:rPr lang="en-IN" sz="1800" dirty="0"/>
              <a:t>) 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A0C615-1355-AE9F-DC8A-1B882D0D2E54}"/>
              </a:ext>
            </a:extLst>
          </p:cNvPr>
          <p:cNvSpPr txBox="1"/>
          <p:nvPr/>
        </p:nvSpPr>
        <p:spPr>
          <a:xfrm>
            <a:off x="381000" y="2690336"/>
            <a:ext cx="8305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Visit /user-form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Fill in the name and email. Click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Submit</a:t>
            </a:r>
            <a:endParaRPr lang="en-US" altLang="en-US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You'll see a success message or validation errors</a:t>
            </a:r>
          </a:p>
        </p:txBody>
      </p:sp>
    </p:spTree>
    <p:extLst>
      <p:ext uri="{BB962C8B-B14F-4D97-AF65-F5344CB8AC3E}">
        <p14:creationId xmlns:p14="http://schemas.microsoft.com/office/powerpoint/2010/main" val="10961832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2D79F93-390C-9254-31FD-6E41414A6611}"/>
              </a:ext>
            </a:extLst>
          </p:cNvPr>
          <p:cNvSpPr txBox="1"/>
          <p:nvPr/>
        </p:nvSpPr>
        <p:spPr>
          <a:xfrm>
            <a:off x="381000" y="914400"/>
            <a:ext cx="8305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b="1" dirty="0"/>
              <a:t>Eloquent ORM (Object-Relational Mapping)</a:t>
            </a:r>
            <a:r>
              <a:rPr lang="en-US" dirty="0"/>
              <a:t> is Laravel’s built-in way of interacting with the database using </a:t>
            </a:r>
            <a:r>
              <a:rPr lang="en-US" b="1" dirty="0"/>
              <a:t>PHP classes (models)</a:t>
            </a:r>
            <a:r>
              <a:rPr lang="en-US" dirty="0"/>
              <a:t> instead of writing raw SQL queries.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Each </a:t>
            </a:r>
            <a:r>
              <a:rPr lang="en-US" b="1" dirty="0"/>
              <a:t>Eloquent model</a:t>
            </a:r>
            <a:r>
              <a:rPr lang="en-US" dirty="0"/>
              <a:t> represents a table in the database, and each </a:t>
            </a:r>
            <a:r>
              <a:rPr lang="en-US" b="1" dirty="0"/>
              <a:t>instance</a:t>
            </a:r>
            <a:r>
              <a:rPr lang="en-US" dirty="0"/>
              <a:t> of the model represents a row in that table.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2A4A25-C510-EEF8-3B2F-8F1B368350EF}"/>
              </a:ext>
            </a:extLst>
          </p:cNvPr>
          <p:cNvSpPr txBox="1"/>
          <p:nvPr/>
        </p:nvSpPr>
        <p:spPr>
          <a:xfrm>
            <a:off x="381000" y="304800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C00000"/>
                </a:solidFill>
              </a:rPr>
              <a:t>Eloquent ORM in Laravel?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7BF7AE-21DA-19F6-ACD5-0B4755161AB8}"/>
              </a:ext>
            </a:extLst>
          </p:cNvPr>
          <p:cNvSpPr txBox="1"/>
          <p:nvPr/>
        </p:nvSpPr>
        <p:spPr>
          <a:xfrm>
            <a:off x="533400" y="2362200"/>
            <a:ext cx="83058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C00000"/>
                </a:solidFill>
              </a:rPr>
              <a:t>No SQL Required</a:t>
            </a:r>
          </a:p>
          <a:p>
            <a:pPr>
              <a:buNone/>
            </a:pPr>
            <a:r>
              <a:rPr lang="en-US" dirty="0"/>
              <a:t>Eloquent uses a clean, readable syntax to handle CRUD operations without writing SQL.</a:t>
            </a:r>
          </a:p>
          <a:p>
            <a:r>
              <a:rPr lang="en-US" b="1" dirty="0"/>
              <a:t>Example: Inserting Data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359867-C39C-EBC3-1416-04031FB348F4}"/>
              </a:ext>
            </a:extLst>
          </p:cNvPr>
          <p:cNvSpPr txBox="1"/>
          <p:nvPr/>
        </p:nvSpPr>
        <p:spPr>
          <a:xfrm>
            <a:off x="566057" y="3294536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$user = new User;</a:t>
            </a:r>
          </a:p>
          <a:p>
            <a:r>
              <a:rPr lang="en-IN" dirty="0"/>
              <a:t>$user-&gt;name = 'Alice';</a:t>
            </a:r>
          </a:p>
          <a:p>
            <a:r>
              <a:rPr lang="en-IN" dirty="0"/>
              <a:t>$user-&gt;email = 'alice@example.com';</a:t>
            </a:r>
          </a:p>
          <a:p>
            <a:r>
              <a:rPr lang="en-IN" dirty="0"/>
              <a:t>$user-&gt;save();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666905-0D3D-B9C0-6408-884D8C6B8A5E}"/>
              </a:ext>
            </a:extLst>
          </p:cNvPr>
          <p:cNvSpPr txBox="1"/>
          <p:nvPr/>
        </p:nvSpPr>
        <p:spPr>
          <a:xfrm>
            <a:off x="587828" y="4724400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C00000"/>
                </a:solidFill>
              </a:rPr>
              <a:t>Fetching Data Easily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5A7410-F6A4-CC03-4BD6-740D3C203D8A}"/>
              </a:ext>
            </a:extLst>
          </p:cNvPr>
          <p:cNvSpPr txBox="1"/>
          <p:nvPr/>
        </p:nvSpPr>
        <p:spPr>
          <a:xfrm>
            <a:off x="587828" y="5124510"/>
            <a:ext cx="796834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$users = User::all();                // Get all users</a:t>
            </a:r>
          </a:p>
          <a:p>
            <a:r>
              <a:rPr lang="en-IN" dirty="0"/>
              <a:t>$user = User::find(1);              // Find user by ID</a:t>
            </a:r>
          </a:p>
          <a:p>
            <a:r>
              <a:rPr lang="en-IN" dirty="0"/>
              <a:t>$user = User::where('email', 'like', '%gmail.com')-&gt;get();  // Filter</a:t>
            </a:r>
          </a:p>
        </p:txBody>
      </p:sp>
    </p:spTree>
    <p:extLst>
      <p:ext uri="{BB962C8B-B14F-4D97-AF65-F5344CB8AC3E}">
        <p14:creationId xmlns:p14="http://schemas.microsoft.com/office/powerpoint/2010/main" val="4321488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C1C76FF-224D-42A1-A719-5C51589DDACF}"/>
              </a:ext>
            </a:extLst>
          </p:cNvPr>
          <p:cNvSpPr txBox="1"/>
          <p:nvPr/>
        </p:nvSpPr>
        <p:spPr>
          <a:xfrm>
            <a:off x="304800" y="304800"/>
            <a:ext cx="58674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Built-in Relationships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Eloquent supports relationships like: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hasOne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hasMany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belongsTo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belongsToMany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934433-3BCB-9C42-1E36-551BF9AC7F59}"/>
              </a:ext>
            </a:extLst>
          </p:cNvPr>
          <p:cNvSpPr txBox="1"/>
          <p:nvPr/>
        </p:nvSpPr>
        <p:spPr>
          <a:xfrm>
            <a:off x="337457" y="2486255"/>
            <a:ext cx="4572000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dirty="0"/>
              <a:t>// In </a:t>
            </a:r>
            <a:r>
              <a:rPr lang="en-IN" dirty="0" err="1"/>
              <a:t>User.php</a:t>
            </a:r>
            <a:r>
              <a:rPr lang="en-IN" dirty="0"/>
              <a:t> model</a:t>
            </a:r>
          </a:p>
          <a:p>
            <a:r>
              <a:rPr lang="en-IN" dirty="0"/>
              <a:t>public function posts() {</a:t>
            </a:r>
          </a:p>
          <a:p>
            <a:r>
              <a:rPr lang="en-IN" dirty="0"/>
              <a:t>    return $this-&gt;</a:t>
            </a:r>
            <a:r>
              <a:rPr lang="en-IN" dirty="0" err="1"/>
              <a:t>hasMany</a:t>
            </a:r>
            <a:r>
              <a:rPr lang="en-IN" dirty="0"/>
              <a:t>(Post::class);</a:t>
            </a:r>
          </a:p>
          <a:p>
            <a:r>
              <a:rPr lang="en-IN" dirty="0"/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059E9F-75C3-5233-D5BA-F52C61B7EC52}"/>
              </a:ext>
            </a:extLst>
          </p:cNvPr>
          <p:cNvSpPr txBox="1"/>
          <p:nvPr/>
        </p:nvSpPr>
        <p:spPr>
          <a:xfrm>
            <a:off x="337457" y="3983266"/>
            <a:ext cx="495300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dirty="0"/>
              <a:t>$user = User::find(1);</a:t>
            </a:r>
          </a:p>
          <a:p>
            <a:r>
              <a:rPr lang="en-IN" dirty="0"/>
              <a:t>$posts = $user-&gt;posts; // Get all posts by that user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7177C0-A32C-6F37-17E0-632CC4B85158}"/>
              </a:ext>
            </a:extLst>
          </p:cNvPr>
          <p:cNvSpPr txBox="1"/>
          <p:nvPr/>
        </p:nvSpPr>
        <p:spPr>
          <a:xfrm>
            <a:off x="381000" y="4926279"/>
            <a:ext cx="74676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Automatic Timestamps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Eloquent auto-manages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created_at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updated_at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fields.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D5CAAC-6061-579E-E7AF-C45F85D7968F}"/>
              </a:ext>
            </a:extLst>
          </p:cNvPr>
          <p:cNvSpPr txBox="1"/>
          <p:nvPr/>
        </p:nvSpPr>
        <p:spPr>
          <a:xfrm>
            <a:off x="381000" y="5791200"/>
            <a:ext cx="82296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C00000"/>
                </a:solidFill>
              </a:rPr>
              <a:t>Query Builder Integration</a:t>
            </a:r>
          </a:p>
          <a:p>
            <a:r>
              <a:rPr lang="en-US" dirty="0"/>
              <a:t>You can mix Eloquent with Laravel's fluent query builder for advanced queries.</a:t>
            </a:r>
          </a:p>
        </p:txBody>
      </p:sp>
    </p:spTree>
    <p:extLst>
      <p:ext uri="{BB962C8B-B14F-4D97-AF65-F5344CB8AC3E}">
        <p14:creationId xmlns:p14="http://schemas.microsoft.com/office/powerpoint/2010/main" val="42795086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B580595-A6A9-B009-163A-00FEF36F97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8951264"/>
              </p:ext>
            </p:extLst>
          </p:nvPr>
        </p:nvGraphicFramePr>
        <p:xfrm>
          <a:off x="468086" y="1267097"/>
          <a:ext cx="8229600" cy="2194560"/>
        </p:xfrm>
        <a:graphic>
          <a:graphicData uri="http://schemas.openxmlformats.org/drawingml/2006/table">
            <a:tbl>
              <a:tblPr/>
              <a:tblGrid>
                <a:gridCol w="2667000">
                  <a:extLst>
                    <a:ext uri="{9D8B030D-6E8A-4147-A177-3AD203B41FA5}">
                      <a16:colId xmlns:a16="http://schemas.microsoft.com/office/drawing/2014/main" val="3307350691"/>
                    </a:ext>
                  </a:extLst>
                </a:gridCol>
                <a:gridCol w="5562600">
                  <a:extLst>
                    <a:ext uri="{9D8B030D-6E8A-4147-A177-3AD203B41FA5}">
                      <a16:colId xmlns:a16="http://schemas.microsoft.com/office/drawing/2014/main" val="34700136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b="1">
                          <a:solidFill>
                            <a:srgbClr val="C00000"/>
                          </a:solidFill>
                        </a:rPr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rgbClr val="C00000"/>
                          </a:solidFill>
                        </a:rPr>
                        <a:t>Benefit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52385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Simple Syntax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Easier and cleaner than raw SQL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334551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Relationship Support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Handles foreign keys &amp; joins automatically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35727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Auto Timestamps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No need to manually manage created/updated dates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1281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Readable Code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Code is expressive and easy to maintain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7581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Laravel Integrated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Works seamlessly with validation, controllers, etc.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307520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28EFC17-DF6B-EE7A-6925-4B60C268DB7F}"/>
              </a:ext>
            </a:extLst>
          </p:cNvPr>
          <p:cNvSpPr txBox="1"/>
          <p:nvPr/>
        </p:nvSpPr>
        <p:spPr>
          <a:xfrm>
            <a:off x="468086" y="457200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b="1" dirty="0">
                <a:solidFill>
                  <a:srgbClr val="C00000"/>
                </a:solidFill>
              </a:rPr>
              <a:t>Benefits of Eloquent ORM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8102980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15287</TotalTime>
  <Words>3118</Words>
  <Application>Microsoft Office PowerPoint</Application>
  <PresentationFormat>On-screen Show (4:3)</PresentationFormat>
  <Paragraphs>439</Paragraphs>
  <Slides>33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33</vt:i4>
      </vt:variant>
    </vt:vector>
  </HeadingPairs>
  <TitlesOfParts>
    <vt:vector size="42" baseType="lpstr">
      <vt:lpstr>Arial</vt:lpstr>
      <vt:lpstr>Bookman Old Style</vt:lpstr>
      <vt:lpstr>Calibri</vt:lpstr>
      <vt:lpstr>Consolas</vt:lpstr>
      <vt:lpstr>inherit</vt:lpstr>
      <vt:lpstr>var(--bs-font-monospace)</vt:lpstr>
      <vt:lpstr>Wingdings</vt:lpstr>
      <vt:lpstr>Office Theme</vt:lpstr>
      <vt:lpstr>Parcel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Kazi Sir</dc:creator>
  <cp:lastModifiedBy>AZIZUDDIN KAZI</cp:lastModifiedBy>
  <cp:revision>355</cp:revision>
  <dcterms:created xsi:type="dcterms:W3CDTF">2006-08-16T00:00:00Z</dcterms:created>
  <dcterms:modified xsi:type="dcterms:W3CDTF">2026-04-02T04:29:13Z</dcterms:modified>
</cp:coreProperties>
</file>